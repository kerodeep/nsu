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323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5" r:id="rId17"/>
    <p:sldId id="283" r:id="rId18"/>
    <p:sldId id="276" r:id="rId19"/>
    <p:sldId id="284" r:id="rId20"/>
    <p:sldId id="277" r:id="rId21"/>
    <p:sldId id="278" r:id="rId22"/>
    <p:sldId id="279" r:id="rId23"/>
    <p:sldId id="280" r:id="rId24"/>
    <p:sldId id="285" r:id="rId25"/>
    <p:sldId id="281" r:id="rId26"/>
    <p:sldId id="282" r:id="rId27"/>
    <p:sldId id="302" r:id="rId28"/>
    <p:sldId id="306" r:id="rId29"/>
    <p:sldId id="291" r:id="rId30"/>
    <p:sldId id="322" r:id="rId31"/>
    <p:sldId id="293" r:id="rId32"/>
    <p:sldId id="294" r:id="rId33"/>
    <p:sldId id="295" r:id="rId34"/>
    <p:sldId id="300" r:id="rId35"/>
    <p:sldId id="301" r:id="rId36"/>
    <p:sldId id="297" r:id="rId37"/>
    <p:sldId id="298" r:id="rId38"/>
    <p:sldId id="299" r:id="rId39"/>
    <p:sldId id="296" r:id="rId40"/>
    <p:sldId id="324" r:id="rId41"/>
    <p:sldId id="258" r:id="rId42"/>
    <p:sldId id="257" r:id="rId43"/>
    <p:sldId id="325" r:id="rId44"/>
    <p:sldId id="288" r:id="rId45"/>
    <p:sldId id="326" r:id="rId46"/>
    <p:sldId id="289" r:id="rId47"/>
    <p:sldId id="327" r:id="rId48"/>
    <p:sldId id="290" r:id="rId49"/>
    <p:sldId id="328" r:id="rId50"/>
    <p:sldId id="292" r:id="rId51"/>
    <p:sldId id="329" r:id="rId52"/>
    <p:sldId id="330" r:id="rId53"/>
    <p:sldId id="331" r:id="rId54"/>
    <p:sldId id="332" r:id="rId55"/>
    <p:sldId id="333" r:id="rId56"/>
    <p:sldId id="334" r:id="rId57"/>
    <p:sldId id="320" r:id="rId5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94008" autoAdjust="0"/>
  </p:normalViewPr>
  <p:slideViewPr>
    <p:cSldViewPr snapToGrid="0">
      <p:cViewPr varScale="1">
        <p:scale>
          <a:sx n="123" d="100"/>
          <a:sy n="123" d="100"/>
        </p:scale>
        <p:origin x="816" y="184"/>
      </p:cViewPr>
      <p:guideLst/>
    </p:cSldViewPr>
  </p:slideViewPr>
  <p:outlineViewPr>
    <p:cViewPr>
      <p:scale>
        <a:sx n="33" d="100"/>
        <a:sy n="33" d="100"/>
      </p:scale>
      <p:origin x="0" y="-420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DAE49-9994-480C-A8BA-2813C76A3AFD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F7D3B-E767-4186-B8CA-246CE9F72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39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2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D44D5E-3C36-4686-B0E4-91BFAC635859}" type="slidenum">
              <a:rPr lang="en-US" altLang="ru-RU" sz="1200" smtClean="0"/>
              <a:pPr>
                <a:spcBef>
                  <a:spcPct val="0"/>
                </a:spcBef>
              </a:pPr>
              <a:t>8</a:t>
            </a:fld>
            <a:endParaRPr lang="en-US" altLang="ru-RU" sz="1200"/>
          </a:p>
        </p:txBody>
      </p:sp>
    </p:spTree>
    <p:extLst>
      <p:ext uri="{BB962C8B-B14F-4D97-AF65-F5344CB8AC3E}">
        <p14:creationId xmlns:p14="http://schemas.microsoft.com/office/powerpoint/2010/main" val="2867190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f65cd95c4_0_2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f65cd95c4_0_2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878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f65cd95c4_0_2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f65cd95c4_0_2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6967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2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D44D5E-3C36-4686-B0E4-91BFAC635859}" type="slidenum">
              <a:rPr lang="en-US" altLang="ru-RU" sz="1200" smtClean="0"/>
              <a:pPr>
                <a:spcBef>
                  <a:spcPct val="0"/>
                </a:spcBef>
              </a:pPr>
              <a:t>34</a:t>
            </a:fld>
            <a:endParaRPr lang="en-US" altLang="ru-RU" sz="1200"/>
          </a:p>
        </p:txBody>
      </p:sp>
    </p:spTree>
    <p:extLst>
      <p:ext uri="{BB962C8B-B14F-4D97-AF65-F5344CB8AC3E}">
        <p14:creationId xmlns:p14="http://schemas.microsoft.com/office/powerpoint/2010/main" val="364282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2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6625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6625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D44D5E-3C36-4686-B0E4-91BFAC635859}" type="slidenum">
              <a:rPr lang="en-US" altLang="ru-RU" sz="1200" smtClean="0"/>
              <a:pPr>
                <a:spcBef>
                  <a:spcPct val="0"/>
                </a:spcBef>
              </a:pPr>
              <a:t>35</a:t>
            </a:fld>
            <a:endParaRPr lang="en-US" altLang="ru-RU" sz="1200"/>
          </a:p>
        </p:txBody>
      </p:sp>
    </p:spTree>
    <p:extLst>
      <p:ext uri="{BB962C8B-B14F-4D97-AF65-F5344CB8AC3E}">
        <p14:creationId xmlns:p14="http://schemas.microsoft.com/office/powerpoint/2010/main" val="1798282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3406-1ED2-40BB-AAEA-8078A8CD2AC0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F308-23F6-4213-A3A4-DE765C5B2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085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3406-1ED2-40BB-AAEA-8078A8CD2AC0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F308-23F6-4213-A3A4-DE765C5B2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39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3406-1ED2-40BB-AAEA-8078A8CD2AC0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F308-23F6-4213-A3A4-DE765C5B2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19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3406-1ED2-40BB-AAEA-8078A8CD2AC0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F308-23F6-4213-A3A4-DE765C5B2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549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3406-1ED2-40BB-AAEA-8078A8CD2AC0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F308-23F6-4213-A3A4-DE765C5B2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027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3406-1ED2-40BB-AAEA-8078A8CD2AC0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F308-23F6-4213-A3A4-DE765C5B2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08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3406-1ED2-40BB-AAEA-8078A8CD2AC0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F308-23F6-4213-A3A4-DE765C5B2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383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3406-1ED2-40BB-AAEA-8078A8CD2AC0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F308-23F6-4213-A3A4-DE765C5B2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574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3406-1ED2-40BB-AAEA-8078A8CD2AC0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F308-23F6-4213-A3A4-DE765C5B2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05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3406-1ED2-40BB-AAEA-8078A8CD2AC0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F308-23F6-4213-A3A4-DE765C5B2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915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13406-1ED2-40BB-AAEA-8078A8CD2AC0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BF308-23F6-4213-A3A4-DE765C5B2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883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427722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74400" y="2519600"/>
            <a:ext cx="11043200" cy="20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09458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15600" y="496667"/>
            <a:ext cx="113608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15600" y="1958433"/>
            <a:ext cx="5333200" cy="41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443200" y="1958433"/>
            <a:ext cx="5333200" cy="41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56432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Раздел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15">
            <a:extLst>
              <a:ext uri="{FF2B5EF4-FFF2-40B4-BE49-F238E27FC236}">
                <a16:creationId xmlns:a16="http://schemas.microsoft.com/office/drawing/2014/main" id="{87F800A1-93EE-85A5-0F8F-DED9D7A5A9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3772" y="2640855"/>
            <a:ext cx="4703572" cy="1569660"/>
          </a:xfr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Play" panose="00000500000000000000" pitchFamily="2" charset="0"/>
              </a:defRPr>
            </a:lvl1pPr>
          </a:lstStyle>
          <a:p>
            <a:pPr lvl="0"/>
            <a:r>
              <a:rPr lang="ru-RU" dirty="0"/>
              <a:t>01. </a:t>
            </a:r>
            <a:br>
              <a:rPr lang="ru-RU" dirty="0"/>
            </a:br>
            <a:r>
              <a:rPr lang="ru-RU" dirty="0"/>
              <a:t>Название раздела доклада</a:t>
            </a:r>
          </a:p>
        </p:txBody>
      </p:sp>
    </p:spTree>
    <p:extLst>
      <p:ext uri="{BB962C8B-B14F-4D97-AF65-F5344CB8AC3E}">
        <p14:creationId xmlns:p14="http://schemas.microsoft.com/office/powerpoint/2010/main" val="3545992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две строки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7">
            <a:extLst>
              <a:ext uri="{FF2B5EF4-FFF2-40B4-BE49-F238E27FC236}">
                <a16:creationId xmlns:a16="http://schemas.microsoft.com/office/drawing/2014/main" id="{9A6D5836-ADF6-D70E-B959-3C17640445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931" y="1985553"/>
            <a:ext cx="11029158" cy="413175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На всех слайдах используйте один и тот же шрифт: для заголовков – </a:t>
            </a:r>
            <a:r>
              <a:rPr lang="en-US" dirty="0"/>
              <a:t>Play</a:t>
            </a:r>
            <a:r>
              <a:rPr lang="ru-RU" dirty="0"/>
              <a:t> 32 пункта</a:t>
            </a:r>
            <a:r>
              <a:rPr lang="en-US" dirty="0"/>
              <a:t> </a:t>
            </a:r>
            <a:r>
              <a:rPr lang="ru-RU" dirty="0"/>
              <a:t>в полужирном начертании, для подзаголовков – </a:t>
            </a:r>
            <a:r>
              <a:rPr lang="en-US" dirty="0"/>
              <a:t>Play</a:t>
            </a:r>
            <a:r>
              <a:rPr lang="ru-RU" dirty="0"/>
              <a:t> 24 пункта в полужирном начертании, для основного текста – </a:t>
            </a:r>
            <a:r>
              <a:rPr lang="en-US" dirty="0"/>
              <a:t>Verdana</a:t>
            </a:r>
            <a:r>
              <a:rPr lang="ru-RU" dirty="0"/>
              <a:t> 20 пунктов. Если текст не помещается на слайд, не стоит уменьшать шрифт. Сделайте текст лаконичнее или разбейте слайд на два. Не используйте курсив и подчеркивание текста, это затрудняет чтение.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FA9F711-F272-08DC-6580-585B48FF7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31" y="624839"/>
            <a:ext cx="11027383" cy="1077218"/>
          </a:xfrm>
        </p:spPr>
        <p:txBody>
          <a:bodyPr wrap="square">
            <a:spAutoFit/>
          </a:bodyPr>
          <a:lstStyle>
            <a:lvl1pPr>
              <a:defRPr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ru-RU" dirty="0"/>
              <a:t>Заголовок, выражающий идею, </a:t>
            </a:r>
            <a:br>
              <a:rPr lang="ru-RU" dirty="0"/>
            </a:br>
            <a:r>
              <a:rPr lang="ru-RU" dirty="0"/>
              <a:t>в две строки. Единица смысла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8B6390-D11A-11F2-D583-72D6464EC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2850" y="6131643"/>
            <a:ext cx="554038" cy="358058"/>
          </a:xfrm>
          <a:prstGeom prst="rect">
            <a:avLst/>
          </a:prstGeom>
        </p:spPr>
        <p:txBody>
          <a:bodyPr anchor="t"/>
          <a:lstStyle>
            <a:lvl1pPr algn="ctr">
              <a:defRPr lang="ru-RU" sz="1600" b="0" kern="12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spcBef>
                <a:spcPts val="1000"/>
              </a:spcBef>
            </a:pPr>
            <a:fld id="{DF043116-2A69-4F25-A768-0EBC84F607C0}" type="slidenum">
              <a:rPr lang="ru-RU" smtClean="0"/>
              <a:pPr>
                <a:spcBef>
                  <a:spcPts val="1000"/>
                </a:spcBef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02783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одна строка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7">
            <a:extLst>
              <a:ext uri="{FF2B5EF4-FFF2-40B4-BE49-F238E27FC236}">
                <a16:creationId xmlns:a16="http://schemas.microsoft.com/office/drawing/2014/main" id="{9A6D5836-ADF6-D70E-B959-3C17640445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931" y="1702677"/>
            <a:ext cx="11029158" cy="441462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ru-RU" dirty="0"/>
              <a:t>На всех слайдах используйте один и тот же шрифт: для заголовков – </a:t>
            </a:r>
            <a:r>
              <a:rPr lang="en-US" dirty="0"/>
              <a:t>Play</a:t>
            </a:r>
            <a:r>
              <a:rPr lang="ru-RU" dirty="0"/>
              <a:t> 32 пункта</a:t>
            </a:r>
            <a:r>
              <a:rPr lang="en-US" dirty="0"/>
              <a:t> </a:t>
            </a:r>
            <a:r>
              <a:rPr lang="ru-RU" dirty="0"/>
              <a:t>в полужирном начертании, для подзаголовков – </a:t>
            </a:r>
            <a:r>
              <a:rPr lang="en-US" dirty="0"/>
              <a:t>Play</a:t>
            </a:r>
            <a:r>
              <a:rPr lang="ru-RU" dirty="0"/>
              <a:t> 24 пункта в полужирном начертании, для основного текста – </a:t>
            </a:r>
            <a:r>
              <a:rPr lang="en-US" dirty="0"/>
              <a:t>Verdana</a:t>
            </a:r>
            <a:r>
              <a:rPr lang="ru-RU" dirty="0"/>
              <a:t> 20 пунктов. Если текст не помещается на слайд, не стоит уменьшать шрифт. Сделайте текст лаконичнее или разбейте слайд на два. Не используйте курсив и подчеркивание текста, это затрудняет чтение.</a:t>
            </a:r>
          </a:p>
          <a:p>
            <a:pPr lvl="0"/>
            <a:endParaRPr lang="ru-RU" dirty="0"/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FA9F711-F272-08DC-6580-585B48FF7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31" y="624839"/>
            <a:ext cx="11027383" cy="584775"/>
          </a:xfrm>
        </p:spPr>
        <p:txBody>
          <a:bodyPr wrap="square">
            <a:spAutoFit/>
          </a:bodyPr>
          <a:lstStyle>
            <a:lvl1pPr>
              <a:defRPr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ru-RU" dirty="0"/>
              <a:t>Заголовок – идея в одну строку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28B6390-D11A-11F2-D583-72D6464EC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2850" y="6131643"/>
            <a:ext cx="554038" cy="358058"/>
          </a:xfrm>
          <a:prstGeom prst="rect">
            <a:avLst/>
          </a:prstGeom>
        </p:spPr>
        <p:txBody>
          <a:bodyPr anchor="t"/>
          <a:lstStyle>
            <a:lvl1pPr algn="ctr">
              <a:defRPr lang="ru-RU" sz="1600" b="0" kern="12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spcBef>
                <a:spcPts val="1000"/>
              </a:spcBef>
            </a:pPr>
            <a:fld id="{DF043116-2A69-4F25-A768-0EBC84F607C0}" type="slidenum">
              <a:rPr lang="ru-RU" smtClean="0"/>
              <a:pPr>
                <a:spcBef>
                  <a:spcPts val="1000"/>
                </a:spcBef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60336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скриншот/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2DDCBEF9-67CF-B3DE-C0D4-96960F1ADF3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53040" y="1985551"/>
            <a:ext cx="10896048" cy="4131754"/>
          </a:xfr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 dirty="0"/>
              <a:t>Иллюстрация или скриншот. Чтобы вставить изображение, нажмите на иконку в центре слайда, выберите нужный объект на устройстве и нажмите «Вставить». Если изображение встроилось не той частью или не с теми пропорциями, выделите его правой клавишей мыши и нажмите «Обрезка». Измените размер изображения или ту область, которая попадает в кадр.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FA9F711-F272-08DC-6580-585B48FF7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31" y="624839"/>
            <a:ext cx="11027383" cy="1077218"/>
          </a:xfrm>
        </p:spPr>
        <p:txBody>
          <a:bodyPr wrap="square">
            <a:spAutoFit/>
          </a:bodyPr>
          <a:lstStyle>
            <a:lvl1pPr>
              <a:defRPr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ru-RU" dirty="0"/>
              <a:t>Заголовок, выражающий идею, </a:t>
            </a:r>
            <a:br>
              <a:rPr lang="ru-RU" dirty="0"/>
            </a:br>
            <a:r>
              <a:rPr lang="ru-RU" dirty="0"/>
              <a:t>в две строки. Единица смысла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8B6390-D11A-11F2-D583-72D6464EC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2850" y="6131643"/>
            <a:ext cx="554038" cy="358058"/>
          </a:xfrm>
          <a:prstGeom prst="rect">
            <a:avLst/>
          </a:prstGeom>
        </p:spPr>
        <p:txBody>
          <a:bodyPr anchor="t"/>
          <a:lstStyle>
            <a:lvl1pPr algn="ctr">
              <a:defRPr lang="ru-RU" sz="1600" b="0" kern="12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spcBef>
                <a:spcPts val="1000"/>
              </a:spcBef>
            </a:pPr>
            <a:fld id="{DF043116-2A69-4F25-A768-0EBC84F607C0}" type="slidenum">
              <a:rPr lang="ru-RU" smtClean="0"/>
              <a:pPr>
                <a:spcBef>
                  <a:spcPts val="1000"/>
                </a:spcBef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6356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13406-1ED2-40BB-AAEA-8078A8CD2AC0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BF308-23F6-4213-A3A4-DE765C5B2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22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anford.edu/class/ee380/Abstracts/140129-slides-Machine-Learning-and-Econometrics.pd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4As-5fhDvsU?t=31785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youtube.com/watch?v=9vM4p9NN0Ts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30180"/>
            <a:ext cx="9144000" cy="2387600"/>
          </a:xfrm>
        </p:spPr>
        <p:txBody>
          <a:bodyPr/>
          <a:lstStyle/>
          <a:p>
            <a:r>
              <a:rPr lang="ru-RU" dirty="0" err="1"/>
              <a:t>ии</a:t>
            </a:r>
            <a:r>
              <a:rPr lang="ru-RU" dirty="0"/>
              <a:t> </a:t>
            </a:r>
            <a:r>
              <a:rPr lang="ru-RU"/>
              <a:t>и и…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908323"/>
            <a:ext cx="9144000" cy="1655762"/>
          </a:xfrm>
        </p:spPr>
        <p:txBody>
          <a:bodyPr/>
          <a:lstStyle/>
          <a:p>
            <a:r>
              <a:rPr lang="ru-RU" dirty="0"/>
              <a:t>Иван Комаров</a:t>
            </a:r>
          </a:p>
          <a:p>
            <a:r>
              <a:rPr lang="ru-RU" dirty="0"/>
              <a:t>Машинное отделение </a:t>
            </a:r>
            <a:r>
              <a:rPr lang="en-US" dirty="0" err="1"/>
              <a:t>koronatech</a:t>
            </a:r>
            <a:endParaRPr lang="en-US" dirty="0"/>
          </a:p>
          <a:p>
            <a:r>
              <a:rPr lang="ru-RU" dirty="0"/>
              <a:t>09.09.25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933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2259" y="320964"/>
            <a:ext cx="3837355" cy="847655"/>
          </a:xfrm>
        </p:spPr>
        <p:txBody>
          <a:bodyPr/>
          <a:lstStyle/>
          <a:p>
            <a:r>
              <a:rPr lang="ru-RU" dirty="0"/>
              <a:t>Представление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0372" y="1592447"/>
            <a:ext cx="2641887" cy="496591"/>
          </a:xfrm>
        </p:spPr>
        <p:txBody>
          <a:bodyPr>
            <a:normAutofit/>
          </a:bodyPr>
          <a:lstStyle/>
          <a:p>
            <a:r>
              <a:rPr lang="ru-RU" dirty="0"/>
              <a:t>Образование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11647" y="1592447"/>
            <a:ext cx="1982827" cy="52339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Опыт</a:t>
            </a:r>
          </a:p>
          <a:p>
            <a:pPr marL="0" indent="0">
              <a:buNone/>
            </a:pPr>
            <a:endParaRPr lang="en-US" sz="2903" dirty="0">
              <a:latin typeface="Garamond" panose="020204040303010108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545" y="2544248"/>
            <a:ext cx="2247841" cy="10000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371" y="3964717"/>
            <a:ext cx="3216191" cy="819569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6A08-D359-41A2-94A6-B5CA0E032F77}" type="slidenum">
              <a:rPr lang="en-US" smtClean="0"/>
              <a:t>2</a:t>
            </a:fld>
            <a:endParaRPr lang="en-US" dirty="0"/>
          </a:p>
        </p:txBody>
      </p:sp>
      <p:pic>
        <p:nvPicPr>
          <p:cNvPr id="1028" name="Picture 4" descr="ЕС-Лизинг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062" y="4479810"/>
            <a:ext cx="1849076" cy="53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6933660" y="5460052"/>
            <a:ext cx="4551246" cy="5390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+mj-lt"/>
                <a:ea typeface="+mj-ea"/>
                <a:cs typeface="+mj-cs"/>
              </a:rPr>
              <a:t>“</a:t>
            </a:r>
            <a:r>
              <a:rPr lang="ru-RU" sz="2800" dirty="0">
                <a:latin typeface="+mj-lt"/>
                <a:ea typeface="+mj-ea"/>
                <a:cs typeface="+mj-cs"/>
              </a:rPr>
              <a:t>ИТ-компании и консалтинг</a:t>
            </a:r>
            <a:r>
              <a:rPr lang="en-US" sz="2800" dirty="0">
                <a:latin typeface="+mj-lt"/>
                <a:ea typeface="+mj-ea"/>
                <a:cs typeface="+mj-cs"/>
              </a:rPr>
              <a:t>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210" y="5475890"/>
            <a:ext cx="56727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  <a:ea typeface="+mj-ea"/>
                <a:cs typeface="+mj-cs"/>
              </a:rPr>
              <a:t>“</a:t>
            </a:r>
            <a:r>
              <a:rPr lang="ru-RU" sz="2800" dirty="0">
                <a:latin typeface="+mj-lt"/>
                <a:ea typeface="+mj-ea"/>
                <a:cs typeface="+mj-cs"/>
              </a:rPr>
              <a:t>Эмпирическая микроэкономика</a:t>
            </a:r>
            <a:r>
              <a:rPr lang="en-US" sz="2800" dirty="0">
                <a:latin typeface="+mj-lt"/>
                <a:ea typeface="+mj-ea"/>
                <a:cs typeface="+mj-cs"/>
              </a:rPr>
              <a:t>”</a:t>
            </a:r>
            <a:endParaRPr lang="ru-RU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836" y="3068160"/>
            <a:ext cx="2525515" cy="8423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04374A5-8DA9-F29F-0C0A-CE5C0B5C5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2175" y="2264754"/>
            <a:ext cx="2516850" cy="36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23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0832" y="378190"/>
            <a:ext cx="3822001" cy="1123977"/>
          </a:xfrm>
        </p:spPr>
        <p:txBody>
          <a:bodyPr>
            <a:normAutofit fontScale="90000"/>
          </a:bodyPr>
          <a:lstStyle/>
          <a:p>
            <a:r>
              <a:rPr lang="ru-RU" dirty="0"/>
              <a:t>Личное мнение: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6A08-D359-41A2-94A6-B5CA0E032F77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93786" y="1763712"/>
            <a:ext cx="9872871" cy="448007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dirty="0"/>
              <a:t>Мы лучше понимаем, что такое интеллект человека. 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ru-RU" sz="2400" dirty="0"/>
              <a:t>Человек – это обучающийся на примерах биологический компьютер. </a:t>
            </a:r>
          </a:p>
          <a:p>
            <a:pPr>
              <a:lnSpc>
                <a:spcPct val="100000"/>
              </a:lnSpc>
            </a:pPr>
            <a:endParaRPr lang="ru-RU" sz="2400" dirty="0"/>
          </a:p>
          <a:p>
            <a:pPr>
              <a:lnSpc>
                <a:spcPct val="100000"/>
              </a:lnSpc>
            </a:pPr>
            <a:r>
              <a:rPr lang="ru-RU" sz="2400" dirty="0"/>
              <a:t>Интеллект – это система, которая эффективно перерабатывает поступающую информацию, использует исторические модели и обучается, создавая модели и эвристики, чтобы принимать решения, </a:t>
            </a:r>
            <a:r>
              <a:rPr lang="ru-RU" sz="2400" dirty="0" err="1"/>
              <a:t>максимизирующие</a:t>
            </a:r>
            <a:r>
              <a:rPr lang="ru-RU" sz="2400" dirty="0"/>
              <a:t> целевую функцию.</a:t>
            </a:r>
          </a:p>
          <a:p>
            <a:pPr>
              <a:lnSpc>
                <a:spcPct val="100000"/>
              </a:lnSpc>
            </a:pPr>
            <a:endParaRPr lang="ru-RU" sz="2400" dirty="0"/>
          </a:p>
          <a:p>
            <a:pPr>
              <a:lnSpc>
                <a:spcPct val="100000"/>
              </a:lnSpc>
            </a:pPr>
            <a:r>
              <a:rPr lang="ru-RU" sz="2400" dirty="0"/>
              <a:t>Пока компьютеры не могут эффективно и универсально обучаться как человек.</a:t>
            </a:r>
          </a:p>
        </p:txBody>
      </p:sp>
    </p:spTree>
    <p:extLst>
      <p:ext uri="{BB962C8B-B14F-4D97-AF65-F5344CB8AC3E}">
        <p14:creationId xmlns:p14="http://schemas.microsoft.com/office/powerpoint/2010/main" val="400162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5786" y="462454"/>
            <a:ext cx="2036141" cy="977463"/>
          </a:xfrm>
        </p:spPr>
        <p:txBody>
          <a:bodyPr/>
          <a:lstStyle/>
          <a:p>
            <a:r>
              <a:rPr lang="ru-RU" sz="4000" dirty="0"/>
              <a:t>История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138939" y="1597891"/>
            <a:ext cx="9882352" cy="434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+mn-lt"/>
                <a:ea typeface="+mn-ea"/>
                <a:cs typeface="+mn-cs"/>
              </a:rPr>
              <a:t>Все началось с интернет-компаний </a:t>
            </a:r>
            <a:r>
              <a:rPr lang="en-US" sz="2600" dirty="0">
                <a:latin typeface="+mn-lt"/>
                <a:ea typeface="+mn-ea"/>
                <a:cs typeface="+mn-cs"/>
              </a:rPr>
              <a:t>Google, Facebook</a:t>
            </a:r>
            <a:r>
              <a:rPr lang="ru-RU" sz="2600" dirty="0">
                <a:latin typeface="+mn-lt"/>
                <a:ea typeface="+mn-ea"/>
                <a:cs typeface="+mn-cs"/>
              </a:rPr>
              <a:t>,</a:t>
            </a:r>
            <a:r>
              <a:rPr lang="en-US" sz="2600" dirty="0">
                <a:latin typeface="+mn-lt"/>
                <a:ea typeface="+mn-ea"/>
                <a:cs typeface="+mn-cs"/>
              </a:rPr>
              <a:t> </a:t>
            </a:r>
            <a:r>
              <a:rPr lang="ru-RU" sz="2600" dirty="0">
                <a:latin typeface="+mn-lt"/>
                <a:ea typeface="+mn-ea"/>
                <a:cs typeface="+mn-cs"/>
              </a:rPr>
              <a:t>которые стали «обучать компьютеры» принимать решения, основанные на данных. </a:t>
            </a:r>
            <a:r>
              <a:rPr lang="en-US" sz="2600" dirty="0">
                <a:latin typeface="+mn-lt"/>
                <a:ea typeface="+mn-ea"/>
                <a:cs typeface="+mn-cs"/>
              </a:rPr>
              <a:t>(</a:t>
            </a:r>
            <a:r>
              <a:rPr lang="ru-RU" sz="2600" dirty="0">
                <a:latin typeface="+mn-lt"/>
                <a:ea typeface="+mn-ea"/>
                <a:cs typeface="+mn-cs"/>
              </a:rPr>
              <a:t>+</a:t>
            </a:r>
            <a:r>
              <a:rPr lang="en-US" sz="2600" dirty="0">
                <a:latin typeface="+mn-lt"/>
                <a:ea typeface="+mn-ea"/>
                <a:cs typeface="+mn-cs"/>
              </a:rPr>
              <a:t>Amazon, +Netflix, +Twitter</a:t>
            </a:r>
            <a:r>
              <a:rPr lang="ru-RU" sz="2600" dirty="0">
                <a:latin typeface="+mn-lt"/>
                <a:ea typeface="+mn-ea"/>
                <a:cs typeface="+mn-cs"/>
              </a:rPr>
              <a:t> = </a:t>
            </a:r>
            <a:r>
              <a:rPr lang="en-US" sz="2600" dirty="0">
                <a:latin typeface="+mn-lt"/>
                <a:ea typeface="+mn-ea"/>
                <a:cs typeface="+mn-cs"/>
              </a:rPr>
              <a:t>FAANG)</a:t>
            </a:r>
            <a:endParaRPr lang="ru-RU" sz="2600" dirty="0">
              <a:latin typeface="+mn-lt"/>
              <a:ea typeface="+mn-ea"/>
              <a:cs typeface="+mn-cs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2600" dirty="0">
              <a:latin typeface="+mn-lt"/>
              <a:ea typeface="+mn-ea"/>
              <a:cs typeface="+mn-cs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+mn-lt"/>
                <a:ea typeface="+mn-ea"/>
                <a:cs typeface="+mn-cs"/>
              </a:rPr>
              <a:t>Результатом машинного обучения является используемый программный код. 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2600" dirty="0">
              <a:latin typeface="+mn-lt"/>
              <a:ea typeface="+mn-ea"/>
              <a:cs typeface="+mn-cs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+mn-lt"/>
                <a:ea typeface="+mn-ea"/>
                <a:cs typeface="+mn-cs"/>
              </a:rPr>
              <a:t>Так возник интернет-промышленный комплекс, основанный на эффективной рекламе («</a:t>
            </a:r>
            <a:r>
              <a:rPr lang="en-US" sz="2600" dirty="0">
                <a:latin typeface="+mn-lt"/>
                <a:ea typeface="+mn-ea"/>
                <a:cs typeface="+mn-cs"/>
              </a:rPr>
              <a:t>surveillance capitalism</a:t>
            </a:r>
            <a:r>
              <a:rPr lang="ru-RU" sz="2600" dirty="0">
                <a:latin typeface="+mn-lt"/>
                <a:ea typeface="+mn-ea"/>
                <a:cs typeface="+mn-cs"/>
              </a:rPr>
              <a:t>», 21 век) вместо ТВ-промышленного (</a:t>
            </a:r>
            <a:r>
              <a:rPr lang="en-US" sz="2600" dirty="0">
                <a:latin typeface="+mn-lt"/>
                <a:ea typeface="+mn-ea"/>
                <a:cs typeface="+mn-cs"/>
              </a:rPr>
              <a:t>Seth Godin, </a:t>
            </a:r>
            <a:r>
              <a:rPr lang="ru-RU" sz="2600" dirty="0">
                <a:latin typeface="+mn-lt"/>
                <a:ea typeface="+mn-ea"/>
                <a:cs typeface="+mn-cs"/>
              </a:rPr>
              <a:t>20 век)</a:t>
            </a:r>
          </a:p>
        </p:txBody>
      </p:sp>
    </p:spTree>
    <p:extLst>
      <p:ext uri="{BB962C8B-B14F-4D97-AF65-F5344CB8AC3E}">
        <p14:creationId xmlns:p14="http://schemas.microsoft.com/office/powerpoint/2010/main" val="2838516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1563" y="462454"/>
            <a:ext cx="5066013" cy="9774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А теперь, Секрет ! </a:t>
            </a:r>
            <a:br>
              <a:rPr lang="ru-RU" sz="4000" dirty="0"/>
            </a:br>
            <a:r>
              <a:rPr lang="ru-RU" sz="4000" dirty="0"/>
              <a:t>(</a:t>
            </a:r>
            <a:r>
              <a:rPr lang="en-US" sz="4000" dirty="0"/>
              <a:t>a </a:t>
            </a:r>
            <a:r>
              <a:rPr lang="ru-RU" sz="4000" dirty="0"/>
              <a:t>«</a:t>
            </a:r>
            <a:r>
              <a:rPr lang="en-US" sz="4000" dirty="0"/>
              <a:t>no magic</a:t>
            </a:r>
            <a:r>
              <a:rPr lang="ru-RU" sz="4000" dirty="0"/>
              <a:t>»</a:t>
            </a:r>
            <a:r>
              <a:rPr lang="en-US" sz="4000" dirty="0"/>
              <a:t> secret)</a:t>
            </a:r>
            <a:endParaRPr lang="ru-RU" sz="4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969818" y="1745673"/>
            <a:ext cx="10714182" cy="44542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+mn-lt"/>
                <a:ea typeface="+mn-ea"/>
                <a:cs typeface="+mn-cs"/>
              </a:rPr>
              <a:t>Большие данные, </a:t>
            </a:r>
            <a:r>
              <a:rPr lang="ru-RU" sz="2600" dirty="0" err="1">
                <a:latin typeface="+mn-lt"/>
                <a:ea typeface="+mn-ea"/>
                <a:cs typeface="+mn-cs"/>
              </a:rPr>
              <a:t>цифровизация</a:t>
            </a:r>
            <a:r>
              <a:rPr lang="ru-RU" sz="2600" dirty="0">
                <a:latin typeface="+mn-lt"/>
                <a:ea typeface="+mn-ea"/>
                <a:cs typeface="+mn-cs"/>
              </a:rPr>
              <a:t>, машинное обучение…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+mn-lt"/>
                <a:ea typeface="+mn-ea"/>
                <a:cs typeface="+mn-cs"/>
              </a:rPr>
              <a:t>Но как помогут большие данные?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+mn-lt"/>
                <a:ea typeface="+mn-ea"/>
                <a:cs typeface="+mn-cs"/>
              </a:rPr>
              <a:t>Какие данные нужны?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2600" dirty="0">
              <a:latin typeface="+mn-lt"/>
              <a:ea typeface="+mn-ea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ru-RU" sz="2600" dirty="0">
                <a:latin typeface="+mn-lt"/>
                <a:ea typeface="+mn-ea"/>
                <a:cs typeface="+mn-cs"/>
              </a:rPr>
              <a:t>Разведданные!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+mn-lt"/>
                <a:ea typeface="+mn-ea"/>
                <a:cs typeface="+mn-cs"/>
              </a:rPr>
              <a:t>Вы побывали в 3-х автосалонах?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+mn-lt"/>
                <a:ea typeface="+mn-ea"/>
                <a:cs typeface="+mn-cs"/>
              </a:rPr>
              <a:t>Вы искали в поиске </a:t>
            </a:r>
            <a:r>
              <a:rPr lang="en-US" sz="2600" dirty="0">
                <a:latin typeface="+mn-lt"/>
                <a:ea typeface="+mn-ea"/>
                <a:cs typeface="+mn-cs"/>
              </a:rPr>
              <a:t>Hyundai </a:t>
            </a:r>
            <a:r>
              <a:rPr lang="en-US" sz="2600" dirty="0" err="1">
                <a:latin typeface="+mn-lt"/>
                <a:ea typeface="+mn-ea"/>
                <a:cs typeface="+mn-cs"/>
              </a:rPr>
              <a:t>Creta</a:t>
            </a:r>
            <a:r>
              <a:rPr lang="en-US" sz="2600" dirty="0">
                <a:latin typeface="+mn-lt"/>
                <a:ea typeface="+mn-ea"/>
                <a:cs typeface="+mn-cs"/>
              </a:rPr>
              <a:t>, Renault Duster, </a:t>
            </a:r>
            <a:r>
              <a:rPr lang="ru-RU" sz="2600" dirty="0">
                <a:latin typeface="+mn-lt"/>
                <a:ea typeface="+mn-ea"/>
                <a:cs typeface="+mn-cs"/>
              </a:rPr>
              <a:t>10 летний </a:t>
            </a:r>
            <a:r>
              <a:rPr lang="en-US" sz="2600" dirty="0">
                <a:latin typeface="+mn-lt"/>
                <a:ea typeface="+mn-ea"/>
                <a:cs typeface="+mn-cs"/>
              </a:rPr>
              <a:t>BMW?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+mn-lt"/>
                <a:ea typeface="+mn-ea"/>
                <a:cs typeface="+mn-cs"/>
              </a:rPr>
              <a:t>Вы говорили про покупку внедорожника?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600" dirty="0">
                <a:latin typeface="+mn-lt"/>
                <a:ea typeface="+mn-ea"/>
                <a:cs typeface="+mn-cs"/>
              </a:rPr>
              <a:t>У вас на счету 1 млн </a:t>
            </a:r>
            <a:r>
              <a:rPr lang="ru-RU" sz="2600" dirty="0" err="1">
                <a:latin typeface="+mn-lt"/>
                <a:ea typeface="+mn-ea"/>
                <a:cs typeface="+mn-cs"/>
              </a:rPr>
              <a:t>руб</a:t>
            </a:r>
            <a:r>
              <a:rPr lang="ru-RU" sz="2600" dirty="0">
                <a:latin typeface="+mn-lt"/>
                <a:ea typeface="+mn-ea"/>
                <a:cs typeface="+mn-cs"/>
              </a:rPr>
              <a:t> (см. СМС), которые вы копили год?</a:t>
            </a:r>
          </a:p>
          <a:p>
            <a:pPr>
              <a:lnSpc>
                <a:spcPct val="100000"/>
              </a:lnSpc>
            </a:pPr>
            <a:endParaRPr lang="ru-RU" sz="2600" dirty="0">
              <a:latin typeface="+mn-lt"/>
              <a:ea typeface="+mn-ea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ru-RU" sz="2600" dirty="0">
                <a:latin typeface="+mn-lt"/>
                <a:ea typeface="+mn-ea"/>
                <a:cs typeface="+mn-cs"/>
              </a:rPr>
              <a:t>Несложный вывод: Вы хотите купить внедорожник в пределах 1 млн. руб.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27" y="3132083"/>
            <a:ext cx="814791" cy="81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36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*</a:t>
            </a:r>
            <a:r>
              <a:rPr lang="ru-RU" dirty="0" err="1"/>
              <a:t>поправочка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93091" y="1847707"/>
            <a:ext cx="10060709" cy="4042928"/>
          </a:xfrm>
        </p:spPr>
        <p:txBody>
          <a:bodyPr>
            <a:normAutofit/>
          </a:bodyPr>
          <a:lstStyle/>
          <a:p>
            <a:r>
              <a:rPr lang="ru-RU" dirty="0"/>
              <a:t>Правда надо все это автоматизировать и свести к выводу</a:t>
            </a:r>
          </a:p>
          <a:p>
            <a:endParaRPr lang="ru-RU" dirty="0"/>
          </a:p>
          <a:p>
            <a:r>
              <a:rPr lang="ru-RU" dirty="0"/>
              <a:t>Большие (не </a:t>
            </a:r>
            <a:r>
              <a:rPr lang="ru-RU" dirty="0" err="1"/>
              <a:t>развед</a:t>
            </a:r>
            <a:r>
              <a:rPr lang="ru-RU" dirty="0"/>
              <a:t>) данные дают обычно 70% результат</a:t>
            </a:r>
          </a:p>
          <a:p>
            <a:endParaRPr lang="ru-RU" dirty="0"/>
          </a:p>
          <a:p>
            <a:r>
              <a:rPr lang="ru-RU" dirty="0"/>
              <a:t>Здесь про рекламу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 есть еще, например: распознавание речи и образов, синтез речи, обучение с подкреплением…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380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142835"/>
            <a:ext cx="10515600" cy="4034127"/>
          </a:xfrm>
        </p:spPr>
        <p:txBody>
          <a:bodyPr/>
          <a:lstStyle/>
          <a:p>
            <a:r>
              <a:rPr lang="ru-RU" dirty="0">
                <a:ea typeface="Tahoma" panose="020B0604030504040204" pitchFamily="34" charset="0"/>
                <a:cs typeface="Tahoma" panose="020B0604030504040204" pitchFamily="34" charset="0"/>
              </a:rPr>
              <a:t>Аналитика + Статистика + Машинное обучение</a:t>
            </a:r>
          </a:p>
          <a:p>
            <a:endParaRPr lang="ru-RU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i="1" dirty="0">
                <a:ea typeface="Tahoma" panose="020B0604030504040204" pitchFamily="34" charset="0"/>
                <a:cs typeface="Tahoma" panose="020B0604030504040204" pitchFamily="34" charset="0"/>
              </a:rPr>
              <a:t>Аналитика – обобщение исторических данных в визуальной форме (график, таблица). Формирование гипотез. </a:t>
            </a:r>
          </a:p>
          <a:p>
            <a:endParaRPr lang="ru-RU" i="1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i="1" dirty="0">
                <a:ea typeface="Tahoma" panose="020B0604030504040204" pitchFamily="34" charset="0"/>
                <a:cs typeface="Tahoma" panose="020B0604030504040204" pitchFamily="34" charset="0"/>
              </a:rPr>
              <a:t>Статистика – проверка гипотез («данные не противоречат гипотезе, ничего странного не наблюдается»)</a:t>
            </a:r>
          </a:p>
          <a:p>
            <a:endParaRPr lang="ru-R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3894286"/>
            <a:ext cx="10515600" cy="3786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Science</a:t>
            </a:r>
            <a:r>
              <a:rPr lang="ru-RU" dirty="0"/>
              <a:t> </a:t>
            </a:r>
            <a:r>
              <a:rPr lang="en-US" dirty="0"/>
              <a:t>&gt; </a:t>
            </a:r>
            <a:r>
              <a:rPr lang="ru-RU" dirty="0"/>
              <a:t>Машинное обучение</a:t>
            </a:r>
          </a:p>
        </p:txBody>
      </p:sp>
    </p:spTree>
    <p:extLst>
      <p:ext uri="{BB962C8B-B14F-4D97-AF65-F5344CB8AC3E}">
        <p14:creationId xmlns:p14="http://schemas.microsoft.com/office/powerpoint/2010/main" val="72167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/>
          <p:cNvSpPr>
            <a:spLocks noChangeArrowheads="1"/>
          </p:cNvSpPr>
          <p:nvPr/>
        </p:nvSpPr>
        <p:spPr bwMode="auto">
          <a:xfrm>
            <a:off x="1592453" y="1989410"/>
            <a:ext cx="8785362" cy="3675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3" tIns="60956" rIns="121913" bIns="60956"/>
          <a:lstStyle>
            <a:lvl1pPr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794"/>
              </a:spcBef>
              <a:buClr>
                <a:srgbClr val="C00000"/>
              </a:buClr>
            </a:pPr>
            <a:endParaRPr lang="ru-RU" altLang="ru-RU" sz="2000" b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1295129" y="533023"/>
            <a:ext cx="10465164" cy="791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3" tIns="60956" rIns="121913" bIns="60956" anchor="ctr"/>
          <a:lstStyle>
            <a:lvl1pPr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ru-RU" altLang="ru-RU" sz="2400" dirty="0">
              <a:solidFill>
                <a:srgbClr val="262626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27270"/>
            <a:ext cx="10515600" cy="1325563"/>
          </a:xfrm>
        </p:spPr>
        <p:txBody>
          <a:bodyPr/>
          <a:lstStyle/>
          <a:p>
            <a:pPr algn="ctr"/>
            <a:r>
              <a:rPr lang="ru-RU" altLang="ru-RU" dirty="0">
                <a:cs typeface="Tahoma" panose="020B0604030504040204" pitchFamily="34" charset="0"/>
              </a:rPr>
              <a:t>Машинное обучение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75283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794"/>
              </a:spcBef>
            </a:pPr>
            <a:r>
              <a:rPr lang="ru-RU" altLang="ru-RU" sz="3000" dirty="0">
                <a:ea typeface="Tahoma" panose="020B0604030504040204" pitchFamily="34" charset="0"/>
                <a:cs typeface="Tahoma" panose="020B0604030504040204" pitchFamily="34" charset="0"/>
              </a:rPr>
              <a:t>Метод анализа данных, который </a:t>
            </a:r>
            <a:r>
              <a:rPr lang="ru-RU" altLang="ru-RU" sz="3000" u="sng" dirty="0">
                <a:ea typeface="Tahoma" panose="020B0604030504040204" pitchFamily="34" charset="0"/>
                <a:cs typeface="Tahoma" panose="020B0604030504040204" pitchFamily="34" charset="0"/>
              </a:rPr>
              <a:t>автоматизирует построение </a:t>
            </a:r>
            <a:r>
              <a:rPr lang="ru-RU" altLang="ru-RU" sz="3000" dirty="0">
                <a:ea typeface="Tahoma" panose="020B0604030504040204" pitchFamily="34" charset="0"/>
                <a:cs typeface="Tahoma" panose="020B0604030504040204" pitchFamily="34" charset="0"/>
              </a:rPr>
              <a:t>аналитической </a:t>
            </a:r>
            <a:r>
              <a:rPr lang="ru-RU" altLang="ru-RU" sz="3000" u="sng" dirty="0">
                <a:ea typeface="Tahoma" panose="020B0604030504040204" pitchFamily="34" charset="0"/>
                <a:cs typeface="Tahoma" panose="020B0604030504040204" pitchFamily="34" charset="0"/>
              </a:rPr>
              <a:t>модели</a:t>
            </a:r>
            <a:r>
              <a:rPr lang="ru-RU" altLang="ru-RU" sz="3000" dirty="0"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>
              <a:lnSpc>
                <a:spcPct val="150000"/>
              </a:lnSpc>
              <a:spcBef>
                <a:spcPts val="794"/>
              </a:spcBef>
            </a:pPr>
            <a:endParaRPr lang="ru-RU" altLang="ru-RU" sz="30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ts val="794"/>
              </a:spcBef>
            </a:pPr>
            <a:r>
              <a:rPr lang="ru-RU" altLang="ru-RU" sz="3000" dirty="0">
                <a:ea typeface="Tahoma" panose="020B0604030504040204" pitchFamily="34" charset="0"/>
                <a:cs typeface="Tahoma" panose="020B0604030504040204" pitchFamily="34" charset="0"/>
              </a:rPr>
              <a:t>Это область искусственного интеллекта, которая основывается на обучении на основе размеченных данных, что позволяет выявлять закономерности и </a:t>
            </a:r>
            <a:r>
              <a:rPr lang="ru-RU" altLang="ru-RU" sz="3000" u="sng" dirty="0">
                <a:ea typeface="Tahoma" panose="020B0604030504040204" pitchFamily="34" charset="0"/>
                <a:cs typeface="Tahoma" panose="020B0604030504040204" pitchFamily="34" charset="0"/>
              </a:rPr>
              <a:t>принимать решения </a:t>
            </a:r>
            <a:r>
              <a:rPr lang="ru-RU" altLang="ru-RU" sz="3000" dirty="0">
                <a:ea typeface="Tahoma" panose="020B0604030504040204" pitchFamily="34" charset="0"/>
                <a:cs typeface="Tahoma" panose="020B0604030504040204" pitchFamily="34" charset="0"/>
              </a:rPr>
              <a:t>с минимальным вмешательством человека.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7406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Машинное обучение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3600" dirty="0"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ru-RU" sz="3600" dirty="0">
                <a:latin typeface="+mj-lt"/>
                <a:ea typeface="+mj-ea"/>
                <a:cs typeface="+mj-cs"/>
              </a:rPr>
              <a:t>Никакой теории! </a:t>
            </a:r>
          </a:p>
          <a:p>
            <a:pPr marL="0" indent="0" algn="ctr">
              <a:buNone/>
            </a:pPr>
            <a:endParaRPr lang="ru-RU" sz="3600" dirty="0"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ru-RU" sz="3600" dirty="0">
                <a:latin typeface="+mj-lt"/>
                <a:ea typeface="+mj-ea"/>
                <a:cs typeface="+mj-cs"/>
              </a:rPr>
              <a:t>Никаких причинно-следственных связей!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21147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Машинное обучение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956"/>
            <a:ext cx="10515600" cy="33647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3600" dirty="0"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ru-RU" sz="3600" dirty="0">
                <a:latin typeface="+mj-lt"/>
                <a:ea typeface="+mj-ea"/>
                <a:cs typeface="+mj-cs"/>
              </a:rPr>
              <a:t>= выявление связей, создание «теории», создание «черных ящиков»</a:t>
            </a:r>
          </a:p>
        </p:txBody>
      </p:sp>
    </p:spTree>
    <p:extLst>
      <p:ext uri="{BB962C8B-B14F-4D97-AF65-F5344CB8AC3E}">
        <p14:creationId xmlns:p14="http://schemas.microsoft.com/office/powerpoint/2010/main" val="2172470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Машинное обучение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53447"/>
            <a:ext cx="10515600" cy="35855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4400" dirty="0"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ru-RU" sz="3600" dirty="0">
                <a:latin typeface="+mj-lt"/>
                <a:ea typeface="+mj-ea"/>
                <a:cs typeface="+mj-cs"/>
              </a:rPr>
              <a:t>Все равно какие данные и связи. Если они помогают в предсказании – пусть будут.</a:t>
            </a:r>
          </a:p>
        </p:txBody>
      </p:sp>
    </p:spTree>
    <p:extLst>
      <p:ext uri="{BB962C8B-B14F-4D97-AF65-F5344CB8AC3E}">
        <p14:creationId xmlns:p14="http://schemas.microsoft.com/office/powerpoint/2010/main" val="182966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Машинное обучение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84978"/>
            <a:ext cx="10515600" cy="38587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4000" dirty="0"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ru-RU" sz="3200" dirty="0">
                <a:latin typeface="+mj-lt"/>
                <a:ea typeface="+mj-ea"/>
                <a:cs typeface="+mj-cs"/>
              </a:rPr>
              <a:t>Концентрируемся на МЕТОДЕ предсказания, </a:t>
            </a:r>
            <a:endParaRPr lang="en-US" sz="3200" dirty="0"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ru-RU" sz="3200" dirty="0">
                <a:latin typeface="+mj-lt"/>
                <a:ea typeface="+mj-ea"/>
                <a:cs typeface="+mj-cs"/>
              </a:rPr>
              <a:t>а не МОДЕЛИ реальности.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3070501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5743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Машинное обучение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5200" y="1570182"/>
            <a:ext cx="6578600" cy="2392218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4400" dirty="0">
                <a:latin typeface="+mj-lt"/>
                <a:ea typeface="+mj-ea"/>
                <a:cs typeface="+mj-cs"/>
              </a:rPr>
              <a:t>Y = f (X)</a:t>
            </a:r>
          </a:p>
          <a:p>
            <a:pPr marL="0" indent="0" algn="ctr">
              <a:buNone/>
            </a:pPr>
            <a:endParaRPr lang="en-US" sz="4400" dirty="0"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US" sz="4400" dirty="0">
                <a:latin typeface="+mj-lt"/>
                <a:ea typeface="+mj-ea"/>
                <a:cs typeface="+mj-cs"/>
              </a:rPr>
              <a:t>Y – </a:t>
            </a:r>
            <a:r>
              <a:rPr lang="ru-RU" sz="4400" dirty="0">
                <a:latin typeface="+mj-lt"/>
                <a:ea typeface="+mj-ea"/>
                <a:cs typeface="+mj-cs"/>
              </a:rPr>
              <a:t>учитель, помогает выучить функцию</a:t>
            </a:r>
          </a:p>
          <a:p>
            <a:pPr marL="0" indent="0" algn="ctr">
              <a:buNone/>
            </a:pPr>
            <a:endParaRPr lang="ru-RU" sz="4400" dirty="0">
              <a:latin typeface="+mj-lt"/>
              <a:ea typeface="+mj-ea"/>
              <a:cs typeface="+mj-cs"/>
            </a:endParaRPr>
          </a:p>
          <a:p>
            <a:pPr marL="0" indent="0" algn="ctr">
              <a:buNone/>
            </a:pPr>
            <a:r>
              <a:rPr lang="en-US" sz="4400" dirty="0">
                <a:latin typeface="+mj-lt"/>
                <a:ea typeface="+mj-ea"/>
                <a:cs typeface="+mj-cs"/>
              </a:rPr>
              <a:t>X – </a:t>
            </a:r>
            <a:r>
              <a:rPr lang="ru-RU" sz="4400" dirty="0">
                <a:latin typeface="+mj-lt"/>
                <a:ea typeface="+mj-ea"/>
                <a:cs typeface="+mj-cs"/>
              </a:rPr>
              <a:t>данные </a:t>
            </a:r>
          </a:p>
          <a:p>
            <a:pPr marL="0" indent="0" algn="ctr">
              <a:buNone/>
            </a:pPr>
            <a:endParaRPr lang="ru-RU" sz="4400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23" y="1441306"/>
            <a:ext cx="3838575" cy="24384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332" y="4302180"/>
            <a:ext cx="3133725" cy="235267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38200" y="4813737"/>
            <a:ext cx="61584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+mj-lt"/>
              </a:rPr>
              <a:t>(Иначе – несмотря на обучение без учителя – «беда».) </a:t>
            </a:r>
          </a:p>
        </p:txBody>
      </p:sp>
    </p:spTree>
    <p:extLst>
      <p:ext uri="{BB962C8B-B14F-4D97-AF65-F5344CB8AC3E}">
        <p14:creationId xmlns:p14="http://schemas.microsoft.com/office/powerpoint/2010/main" val="2435136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Минутка экономики: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742950" indent="-742950">
              <a:buAutoNum type="arabicParenR"/>
            </a:pPr>
            <a:r>
              <a:rPr lang="ru-RU" sz="3600" dirty="0">
                <a:latin typeface="+mj-lt"/>
                <a:ea typeface="+mj-ea"/>
                <a:cs typeface="+mj-cs"/>
              </a:rPr>
              <a:t>Есть интерес к выявлению функции </a:t>
            </a:r>
            <a:r>
              <a:rPr lang="en-US" sz="3600" dirty="0">
                <a:latin typeface="+mj-lt"/>
                <a:ea typeface="+mj-ea"/>
                <a:cs typeface="+mj-cs"/>
              </a:rPr>
              <a:t>f</a:t>
            </a:r>
            <a:r>
              <a:rPr lang="ru-RU" sz="3600" dirty="0">
                <a:latin typeface="+mj-lt"/>
                <a:ea typeface="+mj-ea"/>
                <a:cs typeface="+mj-cs"/>
              </a:rPr>
              <a:t>(Х) и точному предсказанию (на сколько вырастет рынок)</a:t>
            </a:r>
          </a:p>
          <a:p>
            <a:pPr marL="742950" indent="-742950">
              <a:buAutoNum type="arabicParenR"/>
            </a:pPr>
            <a:r>
              <a:rPr lang="ru-RU" sz="3600" dirty="0">
                <a:latin typeface="+mj-lt"/>
                <a:ea typeface="+mj-ea"/>
                <a:cs typeface="+mj-cs"/>
              </a:rPr>
              <a:t>Знание теории помогает (Евгений </a:t>
            </a:r>
            <a:r>
              <a:rPr lang="ru-RU" sz="3600" dirty="0" err="1">
                <a:latin typeface="+mj-lt"/>
                <a:ea typeface="+mj-ea"/>
                <a:cs typeface="+mj-cs"/>
              </a:rPr>
              <a:t>Патеха</a:t>
            </a:r>
            <a:r>
              <a:rPr lang="ru-RU" sz="3600" dirty="0">
                <a:latin typeface="+mj-lt"/>
                <a:ea typeface="+mj-ea"/>
                <a:cs typeface="+mj-cs"/>
              </a:rPr>
              <a:t>)</a:t>
            </a:r>
          </a:p>
          <a:p>
            <a:pPr marL="742950" indent="-742950">
              <a:buAutoNum type="arabicParenR"/>
            </a:pPr>
            <a:r>
              <a:rPr lang="ru-RU" sz="3600" dirty="0">
                <a:latin typeface="+mj-lt"/>
                <a:ea typeface="+mj-ea"/>
                <a:cs typeface="+mj-cs"/>
              </a:rPr>
              <a:t>Экономисты обращают внимание на </a:t>
            </a:r>
            <a:r>
              <a:rPr lang="en-US" sz="3600" dirty="0">
                <a:latin typeface="+mj-lt"/>
                <a:ea typeface="+mj-ea"/>
                <a:cs typeface="+mj-cs"/>
              </a:rPr>
              <a:t>counterfactuals (</a:t>
            </a:r>
            <a:r>
              <a:rPr lang="ru-RU" sz="3600" dirty="0">
                <a:latin typeface="+mj-lt"/>
                <a:ea typeface="+mj-ea"/>
                <a:cs typeface="+mj-cs"/>
              </a:rPr>
              <a:t>а что, если бы было по-другому?)</a:t>
            </a:r>
          </a:p>
        </p:txBody>
      </p:sp>
    </p:spTree>
    <p:extLst>
      <p:ext uri="{BB962C8B-B14F-4D97-AF65-F5344CB8AC3E}">
        <p14:creationId xmlns:p14="http://schemas.microsoft.com/office/powerpoint/2010/main" val="260214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Counterfactuals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742950" indent="-742950">
              <a:buAutoNum type="arabicParenR"/>
            </a:pPr>
            <a:r>
              <a:rPr lang="ru-RU" sz="3600" dirty="0">
                <a:latin typeface="+mj-lt"/>
                <a:ea typeface="+mj-ea"/>
                <a:cs typeface="+mj-cs"/>
              </a:rPr>
              <a:t>Собираем все-все данные</a:t>
            </a:r>
          </a:p>
          <a:p>
            <a:pPr marL="742950" indent="-742950">
              <a:buAutoNum type="arabicParenR"/>
            </a:pPr>
            <a:r>
              <a:rPr lang="ru-RU" sz="3600" dirty="0">
                <a:latin typeface="+mj-lt"/>
                <a:ea typeface="+mj-ea"/>
                <a:cs typeface="+mj-cs"/>
              </a:rPr>
              <a:t>Строим самую лучшую функцию</a:t>
            </a:r>
          </a:p>
          <a:p>
            <a:pPr marL="742950" indent="-742950">
              <a:buAutoNum type="arabicParenR"/>
            </a:pPr>
            <a:r>
              <a:rPr lang="ru-RU" sz="3600" dirty="0">
                <a:latin typeface="+mj-lt"/>
                <a:ea typeface="+mj-ea"/>
                <a:cs typeface="+mj-cs"/>
              </a:rPr>
              <a:t>Но получим ли то что (</a:t>
            </a:r>
            <a:r>
              <a:rPr lang="ru-RU" sz="3600" i="1" dirty="0">
                <a:latin typeface="+mj-lt"/>
                <a:ea typeface="+mj-ea"/>
                <a:cs typeface="+mj-cs"/>
              </a:rPr>
              <a:t>действительно</a:t>
            </a:r>
            <a:r>
              <a:rPr lang="ru-RU" sz="3600" dirty="0">
                <a:latin typeface="+mj-lt"/>
                <a:ea typeface="+mj-ea"/>
                <a:cs typeface="+mj-cs"/>
              </a:rPr>
              <a:t>) ищем?</a:t>
            </a:r>
          </a:p>
        </p:txBody>
      </p:sp>
    </p:spTree>
    <p:extLst>
      <p:ext uri="{BB962C8B-B14F-4D97-AF65-F5344CB8AC3E}">
        <p14:creationId xmlns:p14="http://schemas.microsoft.com/office/powerpoint/2010/main" val="2795849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48" y="436700"/>
            <a:ext cx="10820400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02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Упс</a:t>
            </a:r>
            <a:r>
              <a:rPr lang="ru-RU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1972" y="2249214"/>
            <a:ext cx="7031421" cy="345790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Чтобы измерить эмпирически…</a:t>
            </a:r>
          </a:p>
          <a:p>
            <a:pPr marL="0" indent="0">
              <a:buNone/>
            </a:pPr>
            <a:endParaRPr lang="ru-RU" sz="3600" dirty="0">
              <a:latin typeface="+mj-lt"/>
            </a:endParaRPr>
          </a:p>
          <a:p>
            <a:r>
              <a:rPr lang="ru-RU" sz="3600" dirty="0">
                <a:latin typeface="+mj-lt"/>
              </a:rPr>
              <a:t>Нужен один и тот же человек, </a:t>
            </a:r>
          </a:p>
          <a:p>
            <a:pPr marL="0" indent="0">
              <a:buNone/>
            </a:pPr>
            <a:r>
              <a:rPr lang="ru-RU" sz="3600" dirty="0">
                <a:latin typeface="+mj-lt"/>
              </a:rPr>
              <a:t>на которого воздействовать и </a:t>
            </a:r>
          </a:p>
          <a:p>
            <a:pPr marL="0" indent="0">
              <a:buNone/>
            </a:pPr>
            <a:r>
              <a:rPr lang="ru-RU" sz="3600" dirty="0">
                <a:latin typeface="+mj-lt"/>
              </a:rPr>
              <a:t>не воздействовать одновременно! </a:t>
            </a:r>
          </a:p>
        </p:txBody>
      </p:sp>
    </p:spTree>
    <p:extLst>
      <p:ext uri="{BB962C8B-B14F-4D97-AF65-F5344CB8AC3E}">
        <p14:creationId xmlns:p14="http://schemas.microsoft.com/office/powerpoint/2010/main" val="315533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27" y="553279"/>
            <a:ext cx="1082992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05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943303" y="2109842"/>
            <a:ext cx="10515600" cy="2378075"/>
          </a:xfrm>
        </p:spPr>
        <p:txBody>
          <a:bodyPr/>
          <a:lstStyle/>
          <a:p>
            <a:pPr algn="ctr"/>
            <a:r>
              <a:rPr lang="ru-RU" dirty="0"/>
              <a:t>Зачем нужно разделять трафик </a:t>
            </a:r>
            <a:br>
              <a:rPr lang="ru-RU" dirty="0"/>
            </a:br>
            <a:r>
              <a:rPr lang="ru-RU" dirty="0"/>
              <a:t>случайным образом?</a:t>
            </a:r>
          </a:p>
        </p:txBody>
      </p:sp>
    </p:spTree>
    <p:extLst>
      <p:ext uri="{BB962C8B-B14F-4D97-AF65-F5344CB8AC3E}">
        <p14:creationId xmlns:p14="http://schemas.microsoft.com/office/powerpoint/2010/main" val="2241889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734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“</a:t>
            </a:r>
            <a:r>
              <a:rPr lang="ru-RU" dirty="0"/>
              <a:t>Оценка спроса</a:t>
            </a:r>
            <a:r>
              <a:rPr lang="en-US" dirty="0"/>
              <a:t>”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867" y="2007317"/>
            <a:ext cx="4788265" cy="425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06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Бизнес запрос: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7039"/>
            <a:ext cx="10515600" cy="2487958"/>
          </a:xfrm>
        </p:spPr>
        <p:txBody>
          <a:bodyPr>
            <a:noAutofit/>
          </a:bodyPr>
          <a:lstStyle/>
          <a:p>
            <a:r>
              <a:rPr lang="ru-RU" sz="3600" dirty="0">
                <a:latin typeface="+mj-lt"/>
              </a:rPr>
              <a:t>Собираем исторические данные по ценам, продажам (в </a:t>
            </a:r>
            <a:r>
              <a:rPr lang="ru-RU" sz="3600" dirty="0" err="1">
                <a:latin typeface="+mj-lt"/>
              </a:rPr>
              <a:t>шт</a:t>
            </a:r>
            <a:r>
              <a:rPr lang="en-US" sz="3600" dirty="0">
                <a:latin typeface="+mj-lt"/>
              </a:rPr>
              <a:t>.</a:t>
            </a:r>
            <a:r>
              <a:rPr lang="ru-RU" sz="3600" dirty="0">
                <a:latin typeface="+mj-lt"/>
              </a:rPr>
              <a:t>)</a:t>
            </a:r>
          </a:p>
          <a:p>
            <a:endParaRPr lang="ru-RU" sz="3600" dirty="0">
              <a:latin typeface="+mj-lt"/>
            </a:endParaRPr>
          </a:p>
          <a:p>
            <a:r>
              <a:rPr lang="ru-RU" sz="3600" dirty="0">
                <a:latin typeface="+mj-lt"/>
              </a:rPr>
              <a:t>Восстанавливаем кривую: </a:t>
            </a:r>
            <a:r>
              <a:rPr lang="en-US" sz="3600" dirty="0">
                <a:latin typeface="+mj-lt"/>
              </a:rPr>
              <a:t>Q = f(P, </a:t>
            </a:r>
            <a:r>
              <a:rPr lang="ru-RU" sz="3600" dirty="0">
                <a:latin typeface="+mj-lt"/>
              </a:rPr>
              <a:t>данные о клиенте, об истории клиента, о месте продажи, о характеристиках сделки) + шум</a:t>
            </a:r>
          </a:p>
          <a:p>
            <a:pPr marL="0" indent="0">
              <a:buNone/>
            </a:pP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39308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593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Fail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1978"/>
            <a:ext cx="10515600" cy="5563672"/>
          </a:xfrm>
        </p:spPr>
        <p:txBody>
          <a:bodyPr>
            <a:normAutofit/>
          </a:bodyPr>
          <a:lstStyle/>
          <a:p>
            <a:endParaRPr lang="ru-RU" sz="1400" dirty="0"/>
          </a:p>
          <a:p>
            <a:endParaRPr lang="ru-RU" sz="1400" dirty="0"/>
          </a:p>
          <a:p>
            <a:endParaRPr lang="ru-RU" sz="1400" dirty="0"/>
          </a:p>
          <a:p>
            <a:endParaRPr lang="ru-RU" sz="1400" dirty="0"/>
          </a:p>
          <a:p>
            <a:endParaRPr lang="ru-RU" sz="1400" dirty="0"/>
          </a:p>
          <a:p>
            <a:endParaRPr lang="ru-RU" sz="1400" dirty="0"/>
          </a:p>
          <a:p>
            <a:endParaRPr lang="ru-RU" sz="1400" dirty="0"/>
          </a:p>
          <a:p>
            <a:endParaRPr lang="ru-RU" sz="1400" dirty="0"/>
          </a:p>
          <a:p>
            <a:endParaRPr lang="ru-RU" sz="1400" dirty="0"/>
          </a:p>
          <a:p>
            <a:endParaRPr lang="ru-RU" sz="1400" dirty="0"/>
          </a:p>
          <a:p>
            <a:endParaRPr lang="ru-RU" sz="1400" dirty="0"/>
          </a:p>
          <a:p>
            <a:endParaRPr lang="ru-RU" sz="1400" dirty="0"/>
          </a:p>
          <a:p>
            <a:endParaRPr lang="ru-RU" sz="1400" dirty="0"/>
          </a:p>
          <a:p>
            <a:endParaRPr lang="ru-RU" sz="1400" dirty="0"/>
          </a:p>
          <a:p>
            <a:pPr marL="0" indent="0" algn="r">
              <a:buNone/>
            </a:pPr>
            <a:endParaRPr lang="ru-RU" sz="1100" dirty="0"/>
          </a:p>
          <a:p>
            <a:pPr marL="0" indent="0" algn="r">
              <a:buNone/>
            </a:pPr>
            <a:endParaRPr lang="ru-RU" sz="1100" dirty="0"/>
          </a:p>
          <a:p>
            <a:pPr marL="0" indent="0" algn="r">
              <a:buNone/>
            </a:pPr>
            <a:r>
              <a:rPr lang="ru-RU" sz="1100" dirty="0"/>
              <a:t>https://commons.wikimedia.org/w/index.php?curid=2267783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391" y="1761278"/>
            <a:ext cx="4058484" cy="390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15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159" y="267740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Почему так получилось?</a:t>
            </a:r>
          </a:p>
        </p:txBody>
      </p:sp>
    </p:spTree>
    <p:extLst>
      <p:ext uri="{BB962C8B-B14F-4D97-AF65-F5344CB8AC3E}">
        <p14:creationId xmlns:p14="http://schemas.microsoft.com/office/powerpoint/2010/main" val="3754959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838200" y="1785257"/>
            <a:ext cx="10515600" cy="43917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3600" dirty="0">
              <a:latin typeface="+mj-lt"/>
            </a:endParaRPr>
          </a:p>
          <a:p>
            <a:pPr>
              <a:buFontTx/>
              <a:buChar char="-"/>
            </a:pPr>
            <a:r>
              <a:rPr lang="ru-RU" sz="3600" dirty="0">
                <a:latin typeface="+mj-lt"/>
              </a:rPr>
              <a:t>Бизнес-</a:t>
            </a:r>
            <a:r>
              <a:rPr lang="ru-RU" sz="3600" i="1" dirty="0">
                <a:latin typeface="+mj-lt"/>
              </a:rPr>
              <a:t>правило</a:t>
            </a:r>
            <a:r>
              <a:rPr lang="ru-RU" sz="3600" dirty="0">
                <a:latin typeface="+mj-lt"/>
              </a:rPr>
              <a:t>: «Кризис – продаж мало, опускаем цены, рост – продаж много, поднимаем цены»</a:t>
            </a:r>
          </a:p>
          <a:p>
            <a:pPr>
              <a:buFontTx/>
              <a:buChar char="-"/>
            </a:pPr>
            <a:endParaRPr lang="ru-RU" sz="3600" dirty="0">
              <a:latin typeface="+mj-lt"/>
            </a:endParaRPr>
          </a:p>
          <a:p>
            <a:pPr>
              <a:buFontTx/>
              <a:buChar char="-"/>
            </a:pPr>
            <a:r>
              <a:rPr lang="ru-RU" sz="3600" dirty="0">
                <a:latin typeface="+mj-lt"/>
              </a:rPr>
              <a:t>Измерение в </a:t>
            </a:r>
            <a:r>
              <a:rPr lang="ru-RU" sz="3600" i="1" dirty="0">
                <a:latin typeface="+mj-lt"/>
              </a:rPr>
              <a:t>разное</a:t>
            </a:r>
            <a:r>
              <a:rPr lang="ru-RU" sz="3600" dirty="0">
                <a:latin typeface="+mj-lt"/>
              </a:rPr>
              <a:t> время – был рынок маленький, стал больше (две кривые спроса в разное время)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032501" y="710140"/>
            <a:ext cx="61269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/>
              <a:t>Рациональные гипотезы:</a:t>
            </a:r>
          </a:p>
        </p:txBody>
      </p:sp>
    </p:spTree>
    <p:extLst>
      <p:ext uri="{BB962C8B-B14F-4D97-AF65-F5344CB8AC3E}">
        <p14:creationId xmlns:p14="http://schemas.microsoft.com/office/powerpoint/2010/main" val="437771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32" y="159063"/>
            <a:ext cx="11256136" cy="1141703"/>
          </a:xfrm>
        </p:spPr>
        <p:txBody>
          <a:bodyPr>
            <a:noAutofit/>
          </a:bodyPr>
          <a:lstStyle/>
          <a:p>
            <a:pPr algn="ctr"/>
            <a:r>
              <a:rPr lang="ru-RU" dirty="0" err="1"/>
              <a:t>Инстайт</a:t>
            </a:r>
            <a:r>
              <a:rPr lang="ru-RU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4836"/>
            <a:ext cx="10515600" cy="4650054"/>
          </a:xfrm>
        </p:spPr>
        <p:txBody>
          <a:bodyPr>
            <a:noAutofit/>
          </a:bodyPr>
          <a:lstStyle/>
          <a:p>
            <a:r>
              <a:rPr lang="ru-RU" sz="3600" dirty="0">
                <a:latin typeface="+mj-lt"/>
              </a:rPr>
              <a:t>Нам не нужна историческая зависимость, нам нужна кривая спроса, чтобы понимать эластичность спроса, т.е.</a:t>
            </a:r>
          </a:p>
          <a:p>
            <a:endParaRPr lang="ru-RU" sz="3600" dirty="0">
              <a:latin typeface="+mj-lt"/>
            </a:endParaRPr>
          </a:p>
          <a:p>
            <a:pPr marL="0" indent="0">
              <a:buNone/>
            </a:pPr>
            <a:r>
              <a:rPr lang="ru-RU" sz="3600" b="1" dirty="0">
                <a:latin typeface="+mj-lt"/>
              </a:rPr>
              <a:t>Что будет с продажами (в штуках и прибылью), если цена увеличиться</a:t>
            </a:r>
            <a:r>
              <a:rPr lang="en-US" sz="3600" b="1" dirty="0">
                <a:latin typeface="+mj-lt"/>
              </a:rPr>
              <a:t>/</a:t>
            </a:r>
            <a:r>
              <a:rPr lang="ru-RU" sz="3600" b="1" dirty="0">
                <a:latin typeface="+mj-lt"/>
              </a:rPr>
              <a:t>уменьшиться на 1%, 5% и т.д.?</a:t>
            </a:r>
          </a:p>
        </p:txBody>
      </p:sp>
    </p:spTree>
    <p:extLst>
      <p:ext uri="{BB962C8B-B14F-4D97-AF65-F5344CB8AC3E}">
        <p14:creationId xmlns:p14="http://schemas.microsoft.com/office/powerpoint/2010/main" val="3899580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32" y="159063"/>
            <a:ext cx="11256136" cy="1850041"/>
          </a:xfrm>
        </p:spPr>
        <p:txBody>
          <a:bodyPr>
            <a:noAutofit/>
          </a:bodyPr>
          <a:lstStyle/>
          <a:p>
            <a:pPr algn="ctr"/>
            <a:r>
              <a:rPr lang="ru-RU" dirty="0"/>
              <a:t>Решение – </a:t>
            </a:r>
            <a:r>
              <a:rPr lang="en-US" dirty="0"/>
              <a:t>Casual Inference</a:t>
            </a:r>
            <a:br>
              <a:rPr lang="ru-RU" dirty="0"/>
            </a:br>
            <a:r>
              <a:rPr lang="en-US" sz="1800" dirty="0">
                <a:hlinkClick r:id="rId2"/>
              </a:rPr>
              <a:t>https://www.stanford.edu/class/ee380/Abstracts/140129-slides-Machine-Learning-and-Econometrics.pdf</a:t>
            </a:r>
            <a:r>
              <a:rPr lang="ru-RU" sz="1800" dirty="0"/>
              <a:t> 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83479"/>
            <a:ext cx="10515600" cy="3680989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+mj-lt"/>
              </a:rPr>
              <a:t>Золотой стандарт - делать А/Б тестирование</a:t>
            </a:r>
          </a:p>
          <a:p>
            <a:r>
              <a:rPr lang="ru-RU" sz="3600" dirty="0">
                <a:latin typeface="+mj-lt"/>
              </a:rPr>
              <a:t>Учитывать бизнес-правила, полностью моделировать ситуацию</a:t>
            </a:r>
          </a:p>
          <a:p>
            <a:r>
              <a:rPr lang="ru-RU" sz="3600" dirty="0">
                <a:latin typeface="+mj-lt"/>
              </a:rPr>
              <a:t>Искать естественные эксперименты</a:t>
            </a:r>
          </a:p>
          <a:p>
            <a:r>
              <a:rPr lang="ru-RU" sz="3600" dirty="0">
                <a:latin typeface="+mj-lt"/>
              </a:rPr>
              <a:t>Использовать инструментальные переменные и </a:t>
            </a:r>
            <a:r>
              <a:rPr lang="en-US" sz="3600" dirty="0" err="1">
                <a:latin typeface="+mj-lt"/>
              </a:rPr>
              <a:t>DiD</a:t>
            </a:r>
            <a:endParaRPr lang="ru-RU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1834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574400" y="2519600"/>
            <a:ext cx="11043200" cy="202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 marL="609585" indent="-609585">
              <a:buAutoNum type="arabicPeriod"/>
            </a:pPr>
            <a:r>
              <a:rPr lang="en" dirty="0">
                <a:solidFill>
                  <a:schemeClr val="tx1"/>
                </a:solidFill>
              </a:rPr>
              <a:t>Когда вам нужно машинное обучение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821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3666" y="1543524"/>
            <a:ext cx="8864667" cy="49929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415600" y="496667"/>
            <a:ext cx="11360800" cy="97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 algn="ctr"/>
            <a:r>
              <a:rPr lang="en" dirty="0"/>
              <a:t>Скорость и качество анализа: когда</a:t>
            </a:r>
            <a:endParaRPr dirty="0">
              <a:highlight>
                <a:schemeClr val="accent6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81682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88" y="3804849"/>
            <a:ext cx="2657475" cy="800100"/>
          </a:xfrm>
          <a:prstGeom prst="rect">
            <a:avLst/>
          </a:prstGeom>
        </p:spPr>
      </p:pic>
      <p:sp>
        <p:nvSpPr>
          <p:cNvPr id="80" name="Заголовок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ctr"/>
            <a:r>
              <a:rPr lang="ru-RU" dirty="0"/>
              <a:t>Машинное отделение</a:t>
            </a:r>
            <a:endParaRPr dirty="0"/>
          </a:p>
        </p:txBody>
      </p:sp>
      <p:sp>
        <p:nvSpPr>
          <p:cNvPr id="81" name="Объект 2"/>
          <p:cNvSpPr txBox="1">
            <a:spLocks noGrp="1"/>
          </p:cNvSpPr>
          <p:nvPr>
            <p:ph type="body" idx="1"/>
          </p:nvPr>
        </p:nvSpPr>
        <p:spPr>
          <a:xfrm>
            <a:off x="2326445" y="1616450"/>
            <a:ext cx="7911792" cy="158511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Входим в ТОП-</a:t>
            </a:r>
            <a:r>
              <a:rPr lang="en-US" dirty="0"/>
              <a:t>5</a:t>
            </a:r>
            <a:r>
              <a:rPr lang="ru-RU" dirty="0"/>
              <a:t> разработчиков ПО в России* </a:t>
            </a:r>
            <a:endParaRPr lang="en-US" dirty="0"/>
          </a:p>
          <a:p>
            <a:r>
              <a:rPr lang="ru-RU" dirty="0"/>
              <a:t>Машинное отделение = 1 в ЦФТ в 2016 г.</a:t>
            </a:r>
          </a:p>
          <a:p>
            <a:r>
              <a:rPr lang="ru-RU" dirty="0"/>
              <a:t>Сегодня </a:t>
            </a:r>
            <a:r>
              <a:rPr lang="en-US" dirty="0"/>
              <a:t>250</a:t>
            </a:r>
            <a:r>
              <a:rPr lang="ru-RU" dirty="0"/>
              <a:t>+ человек в Машинном отделении</a:t>
            </a:r>
            <a:endParaRPr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49" y="5066366"/>
            <a:ext cx="2105900" cy="48862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714" y="3804131"/>
            <a:ext cx="1936531" cy="69874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0932" y="4873145"/>
            <a:ext cx="2364086" cy="875065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150" y="3122612"/>
            <a:ext cx="5970777" cy="335521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8226" y="6477824"/>
            <a:ext cx="33113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latin typeface="TTTravels-Regular"/>
              </a:rPr>
              <a:t>(*по данным РА “Эксперт в 2020 г.)</a:t>
            </a:r>
          </a:p>
        </p:txBody>
      </p:sp>
    </p:spTree>
    <p:extLst>
      <p:ext uri="{BB962C8B-B14F-4D97-AF65-F5344CB8AC3E}">
        <p14:creationId xmlns:p14="http://schemas.microsoft.com/office/powerpoint/2010/main" val="2230343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Заголовок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ctr"/>
            <a:r>
              <a:rPr lang="ru-RU" dirty="0"/>
              <a:t>Кто эти </a:t>
            </a:r>
            <a:r>
              <a:rPr lang="en-US" dirty="0"/>
              <a:t>200+</a:t>
            </a:r>
            <a:r>
              <a:rPr lang="ru-RU" dirty="0"/>
              <a:t> в %?</a:t>
            </a:r>
            <a:endParaRPr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00593" y="2590825"/>
          <a:ext cx="11390813" cy="167635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687602">
                  <a:extLst>
                    <a:ext uri="{9D8B030D-6E8A-4147-A177-3AD203B41FA5}">
                      <a16:colId xmlns:a16="http://schemas.microsoft.com/office/drawing/2014/main" val="2685796063"/>
                    </a:ext>
                  </a:extLst>
                </a:gridCol>
                <a:gridCol w="1355364">
                  <a:extLst>
                    <a:ext uri="{9D8B030D-6E8A-4147-A177-3AD203B41FA5}">
                      <a16:colId xmlns:a16="http://schemas.microsoft.com/office/drawing/2014/main" val="4213213208"/>
                    </a:ext>
                  </a:extLst>
                </a:gridCol>
                <a:gridCol w="1456889">
                  <a:extLst>
                    <a:ext uri="{9D8B030D-6E8A-4147-A177-3AD203B41FA5}">
                      <a16:colId xmlns:a16="http://schemas.microsoft.com/office/drawing/2014/main" val="415022254"/>
                    </a:ext>
                  </a:extLst>
                </a:gridCol>
                <a:gridCol w="1456889">
                  <a:extLst>
                    <a:ext uri="{9D8B030D-6E8A-4147-A177-3AD203B41FA5}">
                      <a16:colId xmlns:a16="http://schemas.microsoft.com/office/drawing/2014/main" val="3069392909"/>
                    </a:ext>
                  </a:extLst>
                </a:gridCol>
                <a:gridCol w="1456889">
                  <a:extLst>
                    <a:ext uri="{9D8B030D-6E8A-4147-A177-3AD203B41FA5}">
                      <a16:colId xmlns:a16="http://schemas.microsoft.com/office/drawing/2014/main" val="3292724421"/>
                    </a:ext>
                  </a:extLst>
                </a:gridCol>
                <a:gridCol w="1274340">
                  <a:extLst>
                    <a:ext uri="{9D8B030D-6E8A-4147-A177-3AD203B41FA5}">
                      <a16:colId xmlns:a16="http://schemas.microsoft.com/office/drawing/2014/main" val="335512799"/>
                    </a:ext>
                  </a:extLst>
                </a:gridCol>
                <a:gridCol w="1274340">
                  <a:extLst>
                    <a:ext uri="{9D8B030D-6E8A-4147-A177-3AD203B41FA5}">
                      <a16:colId xmlns:a16="http://schemas.microsoft.com/office/drawing/2014/main" val="4179620145"/>
                    </a:ext>
                  </a:extLst>
                </a:gridCol>
                <a:gridCol w="809500">
                  <a:extLst>
                    <a:ext uri="{9D8B030D-6E8A-4147-A177-3AD203B41FA5}">
                      <a16:colId xmlns:a16="http://schemas.microsoft.com/office/drawing/2014/main" val="1718562142"/>
                    </a:ext>
                  </a:extLst>
                </a:gridCol>
                <a:gridCol w="672781">
                  <a:extLst>
                    <a:ext uri="{9D8B030D-6E8A-4147-A177-3AD203B41FA5}">
                      <a16:colId xmlns:a16="http://schemas.microsoft.com/office/drawing/2014/main" val="4212607608"/>
                    </a:ext>
                  </a:extLst>
                </a:gridCol>
                <a:gridCol w="946219">
                  <a:extLst>
                    <a:ext uri="{9D8B030D-6E8A-4147-A177-3AD203B41FA5}">
                      <a16:colId xmlns:a16="http://schemas.microsoft.com/office/drawing/2014/main" val="2552428443"/>
                    </a:ext>
                  </a:extLst>
                </a:gridCol>
              </a:tblGrid>
              <a:tr h="756754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0" kern="12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Итого</a:t>
                      </a:r>
                      <a:endParaRPr lang="ru-RU" sz="1800" b="0" kern="12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Аналитика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0" kern="12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Нейросети</a:t>
                      </a:r>
                      <a:endParaRPr lang="ru-RU" sz="1800" b="0" kern="12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Разраб</a:t>
                      </a:r>
                      <a:endParaRPr lang="ru-RU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Тест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800" b="0" kern="12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Дата-инженер</a:t>
                      </a:r>
                      <a:endParaRPr lang="ru-RU" sz="1800" b="0" kern="12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0" kern="12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Разметка</a:t>
                      </a:r>
                      <a:endParaRPr lang="ru-RU" sz="1800" b="0" kern="120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Рук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ПМ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Продакт</a:t>
                      </a:r>
                      <a:endParaRPr lang="ru-RU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850920"/>
                  </a:ext>
                </a:extLst>
              </a:tr>
              <a:tr h="459798"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35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434772"/>
                  </a:ext>
                </a:extLst>
              </a:tr>
              <a:tr h="459798">
                <a:tc vMerge="1">
                  <a:txBody>
                    <a:bodyPr/>
                    <a:lstStyle/>
                    <a:p>
                      <a:pPr algn="ctr" rtl="0" fontAlgn="b"/>
                      <a:endParaRPr lang="ru-RU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860" marR="2286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46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ru-RU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860" marR="2286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40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ru-RU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860" marR="2286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ru-RU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860" marR="2286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ru-RU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</a:p>
                  </a:txBody>
                  <a:tcPr marL="22860" marR="228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ru-RU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860" marR="2286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ru-RU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2860" marR="2286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643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407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Аналитика </a:t>
            </a:r>
            <a:r>
              <a:rPr lang="ru-RU" dirty="0" err="1"/>
              <a:t>а.к.а</a:t>
            </a:r>
            <a:r>
              <a:rPr lang="ru-RU" dirty="0"/>
              <a:t>. Дата-</a:t>
            </a:r>
            <a:r>
              <a:rPr lang="ru-RU" dirty="0" err="1"/>
              <a:t>Сайенс</a:t>
            </a:r>
            <a:r>
              <a:rPr lang="ru-RU" dirty="0"/>
              <a:t>*</a:t>
            </a:r>
          </a:p>
        </p:txBody>
      </p:sp>
      <p:pic>
        <p:nvPicPr>
          <p:cNvPr id="8" name="Picture 2" descr="https://lh3.googleusercontent.com/r6f6r4ZemJioA3Co4aWug5R-hkwI28kPZz1jQUU231ayEt97WGYRYu7EOf_SI8T-Nvf3WpmlEVTlqbeuwKakfS_x1ZJqy-cdRJThBHlzHyp77nABc3RnT91ujHr0VkRBbeMztH9P4nk=s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695" y="2375731"/>
            <a:ext cx="5984058" cy="448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5286704" y="6516933"/>
            <a:ext cx="19444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424242"/>
                </a:solidFill>
                <a:latin typeface="TTTravels-Regular"/>
              </a:rPr>
              <a:t>Copyright </a:t>
            </a:r>
            <a:r>
              <a:rPr lang="en-US" sz="1400" dirty="0" err="1">
                <a:solidFill>
                  <a:srgbClr val="424242"/>
                </a:solidFill>
                <a:latin typeface="TTTravels-Regular"/>
              </a:rPr>
              <a:t>Timo</a:t>
            </a:r>
            <a:r>
              <a:rPr lang="en-US" sz="1400" dirty="0">
                <a:solidFill>
                  <a:srgbClr val="424242"/>
                </a:solidFill>
                <a:latin typeface="TTTravels-Regular"/>
              </a:rPr>
              <a:t> Elliott</a:t>
            </a:r>
            <a:endParaRPr lang="en-US" sz="1400" dirty="0">
              <a:latin typeface="TTTravels-Regular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59884" y="6516933"/>
            <a:ext cx="15824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latin typeface="TTTravels-Regular"/>
              </a:rPr>
              <a:t>* Анализ данных</a:t>
            </a:r>
          </a:p>
        </p:txBody>
      </p:sp>
    </p:spTree>
    <p:extLst>
      <p:ext uri="{BB962C8B-B14F-4D97-AF65-F5344CB8AC3E}">
        <p14:creationId xmlns:p14="http://schemas.microsoft.com/office/powerpoint/2010/main" val="2952996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Аналитика </a:t>
            </a:r>
            <a:r>
              <a:rPr lang="ru-RU" dirty="0" err="1"/>
              <a:t>а.к.а</a:t>
            </a:r>
            <a:r>
              <a:rPr lang="ru-RU" dirty="0"/>
              <a:t>. Дата </a:t>
            </a:r>
            <a:r>
              <a:rPr lang="ru-RU" dirty="0" err="1"/>
              <a:t>Сайенс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1002818" cy="4486275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/>
              <a:t>2016-2019: Пробуем все! Вам что автоматизировать?</a:t>
            </a:r>
          </a:p>
          <a:p>
            <a:pPr marL="0" indent="0" algn="ctr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Предсказание цены акций 				не зашло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Расчет эластичности цены 				не зашло* </a:t>
            </a:r>
          </a:p>
          <a:p>
            <a:pPr marL="0" indent="0">
              <a:buNone/>
            </a:pPr>
            <a:r>
              <a:rPr lang="ru-RU" sz="1600" dirty="0"/>
              <a:t>(</a:t>
            </a:r>
            <a:r>
              <a:rPr lang="en-US" sz="1600" dirty="0"/>
              <a:t>FailConf@DataFest5, </a:t>
            </a:r>
            <a:r>
              <a:rPr lang="en-US" sz="1600" dirty="0">
                <a:hlinkClick r:id="rId2"/>
              </a:rPr>
              <a:t>https://youtu.be/4As-5fhDvsU?t=31785</a:t>
            </a:r>
            <a:r>
              <a:rPr lang="ru-RU" sz="1600" dirty="0"/>
              <a:t>)</a:t>
            </a:r>
            <a:endParaRPr lang="en-US" sz="1600" dirty="0"/>
          </a:p>
          <a:p>
            <a:pPr marL="514350" indent="-514350">
              <a:buFont typeface="+mj-lt"/>
              <a:buAutoNum type="arabicPeriod" startAt="3"/>
            </a:pPr>
            <a:r>
              <a:rPr lang="ru-RU" dirty="0"/>
              <a:t>Отток клиентов 						не зашло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ru-RU" dirty="0"/>
              <a:t>Рекомендации </a:t>
            </a:r>
            <a:r>
              <a:rPr lang="en-US" dirty="0"/>
              <a:t>(</a:t>
            </a:r>
            <a:r>
              <a:rPr lang="ru-RU" dirty="0"/>
              <a:t>и </a:t>
            </a:r>
            <a:r>
              <a:rPr lang="en-US" dirty="0"/>
              <a:t>next best offer)</a:t>
            </a:r>
            <a:r>
              <a:rPr lang="ru-RU" dirty="0"/>
              <a:t>			</a:t>
            </a:r>
            <a:r>
              <a:rPr lang="ru-RU" dirty="0" err="1"/>
              <a:t>кхе</a:t>
            </a:r>
            <a:r>
              <a:rPr lang="ru-RU" dirty="0"/>
              <a:t>, правила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ru-RU" dirty="0"/>
              <a:t>Распознавание счетчиков и счетов			не зашло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ru-RU" dirty="0" err="1"/>
              <a:t>Робоколлер</a:t>
            </a:r>
            <a:r>
              <a:rPr lang="ru-RU" dirty="0"/>
              <a:t> 						не зашло, 										купили готовое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ru-RU" dirty="0"/>
              <a:t>Поиск аномалий во временных рядах 		не зашло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1914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Где используем Дата </a:t>
            </a:r>
            <a:r>
              <a:rPr lang="ru-RU" dirty="0" err="1"/>
              <a:t>Сайенс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560944"/>
            <a:ext cx="11002818" cy="46160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2019- : Используем, </a:t>
            </a:r>
            <a:r>
              <a:rPr lang="ru-RU" i="1" dirty="0"/>
              <a:t>только</a:t>
            </a:r>
            <a:r>
              <a:rPr lang="ru-RU" dirty="0"/>
              <a:t> то, что нужно!</a:t>
            </a:r>
            <a:r>
              <a:rPr lang="en-US" dirty="0"/>
              <a:t> </a:t>
            </a:r>
            <a:r>
              <a:rPr lang="ru-RU" dirty="0"/>
              <a:t>(Стратегически.)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514350" indent="-514350">
              <a:buAutoNum type="arabicParenR"/>
            </a:pPr>
            <a:r>
              <a:rPr lang="ru-RU" dirty="0" err="1"/>
              <a:t>Скоринг</a:t>
            </a:r>
            <a:endParaRPr lang="ru-RU" dirty="0"/>
          </a:p>
          <a:p>
            <a:pPr marL="514350" indent="-514350">
              <a:buAutoNum type="arabicParenR"/>
            </a:pPr>
            <a:r>
              <a:rPr lang="ru-RU" dirty="0"/>
              <a:t>Антифрод</a:t>
            </a:r>
          </a:p>
          <a:p>
            <a:pPr marL="514350" indent="-514350">
              <a:buAutoNum type="arabicParenR"/>
            </a:pPr>
            <a:r>
              <a:rPr lang="ru-RU" dirty="0" err="1"/>
              <a:t>Чатбот</a:t>
            </a:r>
            <a:endParaRPr lang="ru-RU" dirty="0"/>
          </a:p>
          <a:p>
            <a:pPr marL="514350" indent="-514350">
              <a:buAutoNum type="arabicParenR"/>
            </a:pPr>
            <a:r>
              <a:rPr lang="ru-RU" dirty="0"/>
              <a:t>Распознавание документов</a:t>
            </a:r>
          </a:p>
          <a:p>
            <a:pPr marL="514350" indent="-514350">
              <a:buAutoNum type="arabicParenR"/>
            </a:pPr>
            <a:r>
              <a:rPr lang="ru-RU" dirty="0"/>
              <a:t>Распознавание лиц</a:t>
            </a:r>
          </a:p>
          <a:p>
            <a:pPr marL="514350" indent="-514350">
              <a:buAutoNum type="arabicParenR"/>
            </a:pPr>
            <a:r>
              <a:rPr lang="ru-RU" dirty="0"/>
              <a:t>Проверка гипотез и поиск ответов на вопросы</a:t>
            </a:r>
          </a:p>
          <a:p>
            <a:pPr marL="514350" indent="-514350">
              <a:buAutoNum type="arabicParenR"/>
            </a:pPr>
            <a:r>
              <a:rPr lang="ru-RU" dirty="0"/>
              <a:t>Речевая аналитика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0894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1327668" y="522513"/>
            <a:ext cx="10465164" cy="791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3" tIns="60956" rIns="121913" bIns="60956" anchor="ctr"/>
          <a:lstStyle>
            <a:lvl1pPr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ru-RU" altLang="ru-RU" sz="4400" b="0" dirty="0">
                <a:solidFill>
                  <a:srgbClr val="262626"/>
                </a:solidFill>
                <a:latin typeface="+mn-lt"/>
                <a:cs typeface="Tahoma" panose="020B0604030504040204" pitchFamily="34" charset="0"/>
              </a:rPr>
              <a:t>Новые технические возможности</a:t>
            </a:r>
          </a:p>
        </p:txBody>
      </p:sp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1327668" y="1609786"/>
            <a:ext cx="10442702" cy="600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3" tIns="60956" rIns="121913" bIns="60956"/>
          <a:lstStyle>
            <a:lvl1pPr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794"/>
              </a:spcBef>
              <a:buClr>
                <a:srgbClr val="33DAFB"/>
              </a:buClr>
              <a:buSzPct val="65000"/>
            </a:pPr>
            <a:r>
              <a:rPr lang="ru-RU" altLang="ru-RU" sz="3600" b="0" dirty="0">
                <a:solidFill>
                  <a:srgbClr val="262626"/>
                </a:solidFill>
                <a:latin typeface="+mj-lt"/>
                <a:cs typeface="Tahoma" panose="020B0604030504040204" pitchFamily="34" charset="0"/>
              </a:rPr>
              <a:t>Обработка естественного языка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418897" y="3016469"/>
            <a:ext cx="9911255" cy="3037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3" tIns="60956" rIns="121913" bIns="60956"/>
          <a:lstStyle>
            <a:lvl1pPr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794"/>
              </a:spcBef>
              <a:buClr>
                <a:srgbClr val="33DAFB"/>
              </a:buClr>
              <a:buSzPct val="65000"/>
            </a:pP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Модели для текста (</a:t>
            </a:r>
            <a:r>
              <a:rPr lang="en-US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BERT, GPT) </a:t>
            </a: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= быстрые прототипы </a:t>
            </a:r>
          </a:p>
          <a:p>
            <a:pPr>
              <a:spcBef>
                <a:spcPts val="794"/>
              </a:spcBef>
              <a:buClr>
                <a:srgbClr val="C00000"/>
              </a:buClr>
              <a:buSzPct val="65000"/>
            </a:pP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Распознавание голоса (</a:t>
            </a:r>
            <a:r>
              <a:rPr lang="en-US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whisper</a:t>
            </a: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>
              <a:spcBef>
                <a:spcPts val="794"/>
              </a:spcBef>
              <a:buClr>
                <a:srgbClr val="C00000"/>
              </a:buClr>
              <a:buSzPct val="65000"/>
            </a:pP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Классификация текста (определение тематики)</a:t>
            </a:r>
          </a:p>
          <a:p>
            <a:pPr>
              <a:spcBef>
                <a:spcPts val="794"/>
              </a:spcBef>
              <a:buClr>
                <a:srgbClr val="C00000"/>
              </a:buClr>
              <a:buSzPct val="65000"/>
            </a:pP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Чат-боты (суть вопроса, заготовки)</a:t>
            </a:r>
          </a:p>
          <a:p>
            <a:pPr>
              <a:spcBef>
                <a:spcPts val="794"/>
              </a:spcBef>
              <a:buClr>
                <a:srgbClr val="C00000"/>
              </a:buClr>
              <a:buSzPct val="65000"/>
            </a:pPr>
            <a:endParaRPr lang="ru-RU" altLang="ru-RU" sz="2800" b="0" dirty="0">
              <a:solidFill>
                <a:srgbClr val="595959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33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1295129" y="533023"/>
            <a:ext cx="10465164" cy="791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3" tIns="60956" rIns="121913" bIns="60956" anchor="ctr"/>
          <a:lstStyle>
            <a:lvl1pPr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ru-RU" altLang="ru-RU" sz="4400" b="0" dirty="0">
                <a:solidFill>
                  <a:srgbClr val="262626"/>
                </a:solidFill>
                <a:latin typeface="+mj-lt"/>
                <a:cs typeface="Tahoma" panose="020B0604030504040204" pitchFamily="34" charset="0"/>
              </a:rPr>
              <a:t>Новые технические возможности</a:t>
            </a:r>
          </a:p>
        </p:txBody>
      </p:sp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1327668" y="1609786"/>
            <a:ext cx="10442702" cy="600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3" tIns="60956" rIns="121913" bIns="60956"/>
          <a:lstStyle>
            <a:lvl1pPr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794"/>
              </a:spcBef>
              <a:buClr>
                <a:srgbClr val="33DAFB"/>
              </a:buClr>
              <a:buSzPct val="65000"/>
            </a:pPr>
            <a:r>
              <a:rPr lang="ru-RU" altLang="ru-RU" sz="3600" b="0" dirty="0">
                <a:solidFill>
                  <a:srgbClr val="262626"/>
                </a:solidFill>
                <a:latin typeface="+mj-lt"/>
                <a:cs typeface="Tahoma" panose="020B0604030504040204" pitchFamily="34" charset="0"/>
              </a:rPr>
              <a:t>Компьютерное зрение</a:t>
            </a:r>
          </a:p>
        </p:txBody>
      </p:sp>
      <p:sp>
        <p:nvSpPr>
          <p:cNvPr id="6151" name="TextBox 2"/>
          <p:cNvSpPr txBox="1">
            <a:spLocks noChangeArrowheads="1"/>
          </p:cNvSpPr>
          <p:nvPr/>
        </p:nvSpPr>
        <p:spPr bwMode="auto">
          <a:xfrm>
            <a:off x="11160603" y="5834477"/>
            <a:ext cx="609769" cy="38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15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fld id="{3DEC6B16-E38D-435A-834E-D3D619A747D9}" type="slidenum">
              <a:rPr lang="ru-RU" altLang="ru-RU" sz="1905">
                <a:solidFill>
                  <a:schemeClr val="bg1"/>
                </a:solidFill>
                <a:latin typeface="Open Sans Extrabold" pitchFamily="34" charset="0"/>
              </a:rPr>
              <a:t>35</a:t>
            </a:fld>
            <a:endParaRPr lang="ru-RU" altLang="ru-RU" sz="1905" dirty="0">
              <a:solidFill>
                <a:schemeClr val="bg1"/>
              </a:solidFill>
              <a:latin typeface="Open Sans Extrabold" pitchFamily="34" charset="0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327668" y="2963919"/>
            <a:ext cx="9465046" cy="2511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13" tIns="60956" rIns="121913" bIns="60956"/>
          <a:lstStyle>
            <a:lvl1pPr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794"/>
              </a:spcBef>
              <a:buClr>
                <a:srgbClr val="33DAFB"/>
              </a:buClr>
              <a:buSzPct val="65000"/>
            </a:pP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Библиотеки (</a:t>
            </a:r>
            <a:r>
              <a:rPr lang="en-US" altLang="ru-RU" sz="3200" b="0" dirty="0" err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fast.ai</a:t>
            </a:r>
            <a:r>
              <a:rPr lang="en-US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altLang="ru-RU" sz="3200" b="0" dirty="0" err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yola</a:t>
            </a:r>
            <a:r>
              <a:rPr lang="en-US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) = SOTA </a:t>
            </a: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по-быстрому</a:t>
            </a:r>
          </a:p>
          <a:p>
            <a:pPr>
              <a:spcBef>
                <a:spcPts val="794"/>
              </a:spcBef>
              <a:buClr>
                <a:srgbClr val="C00000"/>
              </a:buClr>
              <a:buSzPct val="65000"/>
            </a:pP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Чтение документов (</a:t>
            </a:r>
            <a:r>
              <a:rPr lang="en-US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20</a:t>
            </a: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0+ </a:t>
            </a:r>
            <a:r>
              <a:rPr lang="en-US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ID </a:t>
            </a: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документов)</a:t>
            </a:r>
          </a:p>
          <a:p>
            <a:pPr>
              <a:spcBef>
                <a:spcPts val="794"/>
              </a:spcBef>
              <a:buClr>
                <a:srgbClr val="C00000"/>
              </a:buClr>
              <a:buSzPct val="65000"/>
            </a:pP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Сравнение изображений (идентификация)</a:t>
            </a:r>
          </a:p>
          <a:p>
            <a:pPr>
              <a:spcBef>
                <a:spcPts val="794"/>
              </a:spcBef>
              <a:buClr>
                <a:srgbClr val="C00000"/>
              </a:buClr>
              <a:buSzPct val="65000"/>
            </a:pP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Детектирование </a:t>
            </a:r>
            <a:r>
              <a:rPr lang="ru-RU" altLang="ru-RU" sz="3200" b="0" dirty="0" err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фейков</a:t>
            </a:r>
            <a:r>
              <a:rPr lang="ru-RU" altLang="ru-RU" sz="3200" b="0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 (следы подделки)</a:t>
            </a:r>
          </a:p>
          <a:p>
            <a:pPr>
              <a:spcBef>
                <a:spcPts val="794"/>
              </a:spcBef>
              <a:buClr>
                <a:srgbClr val="C00000"/>
              </a:buClr>
              <a:buSzPct val="65000"/>
            </a:pPr>
            <a:endParaRPr lang="ru-RU" altLang="ru-RU" sz="3200" b="0" dirty="0">
              <a:solidFill>
                <a:srgbClr val="59595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0770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Love is …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604908"/>
            <a:ext cx="10515600" cy="4922016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ru-RU" dirty="0"/>
              <a:t>МЛ – это … история про </a:t>
            </a:r>
            <a:r>
              <a:rPr lang="ru-RU" b="1" dirty="0"/>
              <a:t>разработку</a:t>
            </a:r>
            <a:r>
              <a:rPr lang="ru-RU" dirty="0"/>
              <a:t>, т.к. продукт МЛ – код.</a:t>
            </a:r>
          </a:p>
          <a:p>
            <a:pPr marL="514350" indent="-514350">
              <a:buAutoNum type="arabicParenR"/>
            </a:pPr>
            <a:r>
              <a:rPr lang="ru-RU" dirty="0"/>
              <a:t>МЛ – это … </a:t>
            </a:r>
            <a:r>
              <a:rPr lang="ru-RU" b="1" dirty="0"/>
              <a:t>правила </a:t>
            </a:r>
            <a:r>
              <a:rPr lang="ru-RU" dirty="0"/>
              <a:t>– если их проверили на данных.</a:t>
            </a:r>
          </a:p>
          <a:p>
            <a:pPr marL="514350" indent="-514350">
              <a:buAutoNum type="arabicParenR"/>
            </a:pPr>
            <a:r>
              <a:rPr lang="ru-RU" dirty="0"/>
              <a:t>МЛ – это … </a:t>
            </a:r>
            <a:r>
              <a:rPr lang="ru-RU" b="1" dirty="0"/>
              <a:t>средние </a:t>
            </a:r>
            <a:r>
              <a:rPr lang="ru-RU" dirty="0"/>
              <a:t>и регрессия.</a:t>
            </a:r>
          </a:p>
          <a:p>
            <a:pPr marL="514350" indent="-514350">
              <a:buAutoNum type="arabicParenR"/>
            </a:pPr>
            <a:r>
              <a:rPr lang="ru-RU" dirty="0"/>
              <a:t>МЛ – это … </a:t>
            </a:r>
            <a:r>
              <a:rPr lang="ru-RU" b="1" dirty="0"/>
              <a:t>эксперименты</a:t>
            </a:r>
            <a:r>
              <a:rPr lang="ru-RU" dirty="0"/>
              <a:t> (хотя, корректнее, дата-</a:t>
            </a:r>
            <a:r>
              <a:rPr lang="ru-RU" dirty="0" err="1"/>
              <a:t>сайенс</a:t>
            </a:r>
            <a:r>
              <a:rPr lang="ru-RU" dirty="0"/>
              <a:t>).</a:t>
            </a:r>
          </a:p>
          <a:p>
            <a:pPr marL="514350" indent="-514350">
              <a:buAutoNum type="arabicParenR"/>
            </a:pPr>
            <a:r>
              <a:rPr lang="ru-RU" dirty="0"/>
              <a:t>МЛ – это … </a:t>
            </a:r>
            <a:r>
              <a:rPr lang="ru-RU" b="1" dirty="0"/>
              <a:t>бизнес-аналитика</a:t>
            </a:r>
            <a:r>
              <a:rPr lang="ru-RU" dirty="0"/>
              <a:t> (вернее </a:t>
            </a:r>
            <a:r>
              <a:rPr lang="en-US" dirty="0"/>
              <a:t>EDA</a:t>
            </a:r>
            <a:r>
              <a:rPr lang="ru-RU" dirty="0"/>
              <a:t>, первичный анализ данных)</a:t>
            </a:r>
          </a:p>
          <a:p>
            <a:pPr marL="514350" indent="-514350">
              <a:buAutoNum type="arabicParenR"/>
            </a:pPr>
            <a:r>
              <a:rPr lang="ru-RU" dirty="0"/>
              <a:t>МЛ – это … </a:t>
            </a:r>
            <a:r>
              <a:rPr lang="ru-RU" b="1" dirty="0" err="1"/>
              <a:t>каггл</a:t>
            </a:r>
            <a:r>
              <a:rPr lang="ru-RU" dirty="0"/>
              <a:t> (вернее дисциплина и инструментарий)</a:t>
            </a:r>
          </a:p>
          <a:p>
            <a:pPr marL="514350" indent="-514350">
              <a:buAutoNum type="arabicParenR"/>
            </a:pPr>
            <a:r>
              <a:rPr lang="ru-RU" dirty="0"/>
              <a:t>МЛ – это … </a:t>
            </a:r>
            <a:r>
              <a:rPr lang="ru-RU" b="1" dirty="0"/>
              <a:t>ничего</a:t>
            </a:r>
            <a:r>
              <a:rPr lang="ru-RU" dirty="0"/>
              <a:t>. Но надо доказать, что анализ бесполезен.</a:t>
            </a:r>
          </a:p>
        </p:txBody>
      </p:sp>
    </p:spTree>
    <p:extLst>
      <p:ext uri="{BB962C8B-B14F-4D97-AF65-F5344CB8AC3E}">
        <p14:creationId xmlns:p14="http://schemas.microsoft.com/office/powerpoint/2010/main" val="2116535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Завод, а не НИИ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604908"/>
            <a:ext cx="10515600" cy="4922016"/>
          </a:xfrm>
        </p:spPr>
        <p:txBody>
          <a:bodyPr>
            <a:normAutofit/>
          </a:bodyPr>
          <a:lstStyle/>
          <a:p>
            <a:r>
              <a:rPr lang="ru-RU" dirty="0"/>
              <a:t>Можно добиться любви между разработчиками и аналитиками. Любовь – это </a:t>
            </a:r>
            <a:r>
              <a:rPr lang="en-US" dirty="0"/>
              <a:t>core</a:t>
            </a:r>
            <a:r>
              <a:rPr lang="ru-RU" dirty="0"/>
              <a:t>.</a:t>
            </a:r>
          </a:p>
          <a:p>
            <a:r>
              <a:rPr lang="ru-RU" dirty="0"/>
              <a:t>Всем нужно </a:t>
            </a:r>
            <a:r>
              <a:rPr lang="ru-RU" dirty="0" err="1"/>
              <a:t>ревьюить</a:t>
            </a:r>
            <a:r>
              <a:rPr lang="ru-RU" dirty="0"/>
              <a:t> код.</a:t>
            </a:r>
          </a:p>
          <a:p>
            <a:r>
              <a:rPr lang="ru-RU" dirty="0"/>
              <a:t>Всем нужно писать тесты.</a:t>
            </a:r>
          </a:p>
          <a:p>
            <a:r>
              <a:rPr lang="ru-RU" dirty="0"/>
              <a:t>Тестировщики – это особые разработчики.</a:t>
            </a:r>
          </a:p>
          <a:p>
            <a:r>
              <a:rPr lang="ru-RU" dirty="0"/>
              <a:t>Обучение в обоих ролях необходимо.</a:t>
            </a:r>
          </a:p>
          <a:p>
            <a:r>
              <a:rPr lang="ru-RU" dirty="0"/>
              <a:t>Лучше неточный ответ сейчас, чем отличный потом. Вы сильно недооцениваете дисперсию и изменения. </a:t>
            </a:r>
          </a:p>
        </p:txBody>
      </p:sp>
    </p:spTree>
    <p:extLst>
      <p:ext uri="{BB962C8B-B14F-4D97-AF65-F5344CB8AC3E}">
        <p14:creationId xmlns:p14="http://schemas.microsoft.com/office/powerpoint/2010/main" val="149800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Уроки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604908"/>
            <a:ext cx="10515600" cy="4922016"/>
          </a:xfrm>
        </p:spPr>
        <p:txBody>
          <a:bodyPr>
            <a:normAutofit/>
          </a:bodyPr>
          <a:lstStyle/>
          <a:p>
            <a:r>
              <a:rPr lang="ru-RU" dirty="0"/>
              <a:t> Большую часть того, что вы сделаете – не пригодиться.</a:t>
            </a:r>
          </a:p>
          <a:p>
            <a:r>
              <a:rPr lang="ru-RU" dirty="0"/>
              <a:t> Если кто-то сделал лучше вас, то пользуйтесь.</a:t>
            </a:r>
          </a:p>
          <a:p>
            <a:r>
              <a:rPr lang="ru-RU" dirty="0"/>
              <a:t> Что для вас данные, то для других – служебная информация.</a:t>
            </a:r>
          </a:p>
          <a:p>
            <a:r>
              <a:rPr lang="ru-RU" dirty="0"/>
              <a:t> Магии нет, но на больших данных можно сделать бизнес.</a:t>
            </a:r>
          </a:p>
          <a:p>
            <a:r>
              <a:rPr lang="ru-RU" dirty="0"/>
              <a:t> Питон и ноутбуки должны знать все аналитики.</a:t>
            </a:r>
          </a:p>
          <a:p>
            <a:r>
              <a:rPr lang="ru-RU" dirty="0"/>
              <a:t> Классический МЛ должны знать все аналитики.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Бонус: 1-2 хороших специалиста могут вам наладить компьютерное зрение или обработку языка – есть хорошие готовые </a:t>
            </a:r>
            <a:r>
              <a:rPr lang="en-US" dirty="0"/>
              <a:t>open source </a:t>
            </a:r>
            <a:r>
              <a:rPr lang="ru-RU" dirty="0"/>
              <a:t>решения.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71405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Принципы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72640"/>
            <a:ext cx="10515600" cy="3864687"/>
          </a:xfrm>
        </p:spPr>
        <p:txBody>
          <a:bodyPr/>
          <a:lstStyle/>
          <a:p>
            <a:r>
              <a:rPr lang="ru-RU" dirty="0"/>
              <a:t>Не </a:t>
            </a:r>
            <a:r>
              <a:rPr lang="ru-RU" dirty="0" err="1"/>
              <a:t>хайп</a:t>
            </a:r>
            <a:r>
              <a:rPr lang="ru-RU" dirty="0"/>
              <a:t>, а польза (увеличение доходов, уменьшение расходов, уменьшение рисков) </a:t>
            </a:r>
          </a:p>
          <a:p>
            <a:r>
              <a:rPr lang="ru-RU" dirty="0"/>
              <a:t>Свободное ПО и сообщество дата-</a:t>
            </a:r>
            <a:r>
              <a:rPr lang="ru-RU" dirty="0" err="1"/>
              <a:t>сайентистов</a:t>
            </a:r>
            <a:endParaRPr lang="ru-RU" dirty="0"/>
          </a:p>
          <a:p>
            <a:r>
              <a:rPr lang="ru-RU" dirty="0"/>
              <a:t>Если можно без машинного обучения, то без</a:t>
            </a:r>
          </a:p>
          <a:p>
            <a:r>
              <a:rPr lang="ru-RU" dirty="0"/>
              <a:t>Главное – привить культуру работы с данными и научить вопросу «Где можно выгодно применить дата-</a:t>
            </a:r>
            <a:r>
              <a:rPr lang="ru-RU" dirty="0" err="1"/>
              <a:t>сайенс</a:t>
            </a:r>
            <a:r>
              <a:rPr lang="ru-RU" dirty="0"/>
              <a:t>?»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6654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4A0B199B-D010-37BF-CF13-AAA4684940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7963" y="6130925"/>
            <a:ext cx="554037" cy="358775"/>
          </a:xfrm>
        </p:spPr>
        <p:txBody>
          <a:bodyPr/>
          <a:lstStyle/>
          <a:p>
            <a:fld id="{DEE8D5DF-30B9-4600-94C9-E546793E2BE0}" type="slidenum">
              <a:rPr lang="ru-RU" smtClean="0"/>
              <a:t>40</a:t>
            </a:fld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DFA6404-BAAD-51DF-CD1A-EA7BA928DB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3772" y="2887076"/>
            <a:ext cx="4703572" cy="1077218"/>
          </a:xfrm>
        </p:spPr>
        <p:txBody>
          <a:bodyPr/>
          <a:lstStyle/>
          <a:p>
            <a:r>
              <a:rPr lang="ru-RU" dirty="0"/>
              <a:t>Что такое ИИ (</a:t>
            </a:r>
            <a:r>
              <a:rPr lang="en-US" dirty="0" err="1"/>
              <a:t>ChatGPT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en-US" dirty="0" err="1"/>
              <a:t>з</a:t>
            </a:r>
            <a:r>
              <a:rPr lang="ru-RU" dirty="0"/>
              <a:t>а 15 минут!</a:t>
            </a:r>
          </a:p>
        </p:txBody>
      </p:sp>
    </p:spTree>
    <p:extLst>
      <p:ext uri="{BB962C8B-B14F-4D97-AF65-F5344CB8AC3E}">
        <p14:creationId xmlns:p14="http://schemas.microsoft.com/office/powerpoint/2010/main" val="19239493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17C2C-573B-815A-860A-CA8265240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DB1481-5137-8592-4089-B94E002B5E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931" y="917226"/>
            <a:ext cx="11029158" cy="4131751"/>
          </a:xfrm>
        </p:spPr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  <a:p>
            <a:br>
              <a:rPr lang="ru-RU" dirty="0"/>
            </a:br>
            <a:r>
              <a:rPr lang="en-US" sz="1800" u="sng" dirty="0">
                <a:solidFill>
                  <a:srgbClr val="0563C1"/>
                </a:solidFill>
                <a:effectLst/>
                <a:latin typeface="Calibri Light" panose="020F0302020204030204" pitchFamily="34" charset="0"/>
                <a:ea typeface="DengXian" panose="02010600030101010101" pitchFamily="2" charset="-122"/>
                <a:cs typeface="Arial" panose="020B0604020202020204" pitchFamily="34" charset="0"/>
                <a:hlinkClick r:id="rId2"/>
              </a:rPr>
              <a:t>https://www.youtube.com/watch?v=9vM4p9NN0Ts</a:t>
            </a:r>
            <a:br>
              <a:rPr lang="en-US" sz="1800" dirty="0">
                <a:effectLst/>
                <a:latin typeface="Calibri Light" panose="020F0302020204030204" pitchFamily="34" charset="0"/>
                <a:ea typeface="DengXian" panose="02010600030101010101" pitchFamily="2" charset="-122"/>
              </a:rPr>
            </a:br>
            <a:r>
              <a:rPr lang="en-US" sz="1800" dirty="0">
                <a:effectLst/>
                <a:latin typeface="Calibri Light" panose="020F0302020204030204" pitchFamily="34" charset="0"/>
                <a:ea typeface="DengXian" panose="02010600030101010101" pitchFamily="2" charset="-122"/>
              </a:rPr>
              <a:t>Yann Dubois, </a:t>
            </a:r>
            <a:r>
              <a:rPr lang="en-US" sz="1800" dirty="0">
                <a:solidFill>
                  <a:srgbClr val="0F0F0F"/>
                </a:solidFill>
                <a:effectLst/>
                <a:latin typeface="Calibri Light" panose="020F0302020204030204" pitchFamily="34" charset="0"/>
                <a:ea typeface="DengXian" panose="02010600030101010101" pitchFamily="2" charset="-122"/>
              </a:rPr>
              <a:t>Stanford CS229 I Machine Learning I Building Large Language Models (LLMs)</a:t>
            </a:r>
            <a:endParaRPr lang="ru-RU" dirty="0"/>
          </a:p>
          <a:p>
            <a:endParaRPr lang="ru-RU" dirty="0"/>
          </a:p>
          <a:p>
            <a:r>
              <a:rPr lang="ru-RU" dirty="0"/>
              <a:t> </a:t>
            </a:r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FBA5001-2DDB-F994-22F7-F30108C9E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31" y="624839"/>
            <a:ext cx="11027383" cy="584775"/>
          </a:xfrm>
        </p:spPr>
        <p:txBody>
          <a:bodyPr/>
          <a:lstStyle/>
          <a:p>
            <a:r>
              <a:rPr lang="ru-RU" sz="3200" dirty="0"/>
              <a:t>Помогут: </a:t>
            </a:r>
            <a:endParaRPr lang="ru-RU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C3D7E87E-D859-C374-A32B-429A0D7F4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41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1B1980-4645-303A-EC76-2664FC369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154" y="3483306"/>
            <a:ext cx="2324117" cy="245746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C940E9-EB2F-6D67-06A1-066430570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151" y="4115312"/>
            <a:ext cx="5108699" cy="137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08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8E725F7-DFBB-AC0D-6C74-89E6493F7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24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БЯМ</a:t>
            </a:r>
            <a:r>
              <a:rPr lang="en-US" sz="24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 (LLMs) – </a:t>
            </a:r>
            <a:r>
              <a:rPr lang="ru-RU" sz="24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это нейронные сети </a:t>
            </a:r>
          </a:p>
          <a:p>
            <a:r>
              <a:rPr lang="ru-RU" sz="24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Архитектура «Трансформер»</a:t>
            </a:r>
          </a:p>
          <a:p>
            <a:r>
              <a:rPr lang="ru-RU" sz="24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Обучены на Интернете </a:t>
            </a:r>
          </a:p>
          <a:p>
            <a:r>
              <a:rPr lang="en-US" sz="24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Pre-training</a:t>
            </a:r>
            <a:endParaRPr lang="ru-RU" sz="2400" kern="100" dirty="0">
              <a:effectLst/>
              <a:latin typeface="+mn-lt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24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Post-training</a:t>
            </a:r>
            <a:endParaRPr lang="ru-RU" sz="2400" kern="100" dirty="0">
              <a:effectLst/>
              <a:latin typeface="+mn-lt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EDEF3-777F-6908-D4CE-7DBB7217D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Основное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1FBBE9-E6A7-3E6D-C42B-FA66702F6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2943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7FC30311-FB69-BA7E-9561-83B0A675F1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sz="2000" b="1" u="sng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Языковая модель</a:t>
            </a:r>
            <a:r>
              <a:rPr lang="ru-RU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 моделирует распределение вероятностей для набора токенов</a:t>
            </a:r>
            <a:r>
              <a:rPr lang="en-US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 (</a:t>
            </a:r>
            <a:r>
              <a:rPr lang="ru-RU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слов</a:t>
            </a:r>
            <a:r>
              <a:rPr lang="en-US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)</a:t>
            </a:r>
            <a:endParaRPr lang="ru-RU" sz="2000" kern="100" dirty="0">
              <a:effectLst/>
              <a:latin typeface="+mn-lt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P(x1…</a:t>
            </a:r>
            <a:r>
              <a:rPr lang="en-US" sz="2000" kern="100" dirty="0" err="1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xL</a:t>
            </a:r>
            <a:r>
              <a:rPr lang="en-US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)</a:t>
            </a:r>
            <a:endParaRPr lang="ru-RU" sz="2000" kern="100" dirty="0">
              <a:effectLst/>
              <a:latin typeface="+mn-lt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P(</a:t>
            </a:r>
            <a:r>
              <a:rPr lang="en-US" sz="2000" kern="100" dirty="0" err="1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the,mouse,ate,the,cheese</a:t>
            </a:r>
            <a:r>
              <a:rPr lang="en-US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) = 0.02</a:t>
            </a:r>
            <a:endParaRPr lang="ru-RU" sz="2000" kern="100" dirty="0">
              <a:effectLst/>
              <a:latin typeface="+mn-lt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P(</a:t>
            </a:r>
            <a:r>
              <a:rPr lang="en-US" sz="2000" kern="100" dirty="0" err="1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the,the,mouse,ate,the,cheese</a:t>
            </a:r>
            <a:r>
              <a:rPr lang="en-US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) = 0.0001</a:t>
            </a:r>
            <a:endParaRPr lang="ru-RU" sz="2000" kern="100" dirty="0">
              <a:effectLst/>
              <a:latin typeface="+mn-lt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P(the, cheese, ate, the, mouse) = 0.001</a:t>
            </a:r>
            <a:endParaRPr lang="ru-RU" sz="2000" kern="100" dirty="0">
              <a:effectLst/>
              <a:latin typeface="+mn-lt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ru-RU" sz="2000" b="1" u="sng" kern="100" dirty="0" err="1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Авторегрессионная</a:t>
            </a:r>
            <a:r>
              <a:rPr lang="ru-RU" sz="2000" b="1" u="sng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 языковая модель</a:t>
            </a:r>
            <a:r>
              <a:rPr lang="en-US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ru-RU" sz="2000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– модель, которая предсказывает следующий токен на основе предыдущего контекста. </a:t>
            </a:r>
          </a:p>
          <a:p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p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1…</a:t>
            </a:r>
            <a:r>
              <a:rPr lang="en-US" sz="2000" b="1" kern="100" dirty="0" err="1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xL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) = 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p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1) 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p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2|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1) 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p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3|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2, 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1) … = П 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p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xi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|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x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1…</a:t>
            </a:r>
            <a:r>
              <a:rPr lang="en-US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xi</a:t>
            </a:r>
            <a:r>
              <a:rPr lang="ru-RU" sz="2000" b="1" kern="100" dirty="0">
                <a:effectLst/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-1)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D98A749A-69D3-78CF-3EA6-EE967AF4E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L</a:t>
            </a:r>
            <a:r>
              <a:rPr lang="en-US" dirty="0"/>
              <a:t>LM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847BFF-2C0E-3DF4-BB41-FD0689BF9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6891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5C8D02-D33C-23B8-53BF-3EF978D6F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31" y="624839"/>
            <a:ext cx="11027383" cy="584775"/>
          </a:xfrm>
        </p:spPr>
        <p:txBody>
          <a:bodyPr/>
          <a:lstStyle/>
          <a:p>
            <a:r>
              <a:rPr lang="ru-RU" dirty="0"/>
              <a:t>Как устроена </a:t>
            </a:r>
            <a:r>
              <a:rPr lang="ru-RU" dirty="0" err="1"/>
              <a:t>L</a:t>
            </a:r>
            <a:r>
              <a:rPr lang="en-US" dirty="0"/>
              <a:t>LM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5FE06A-DE48-A25A-0348-890127958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44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65F78E-092A-1394-E908-624CEAE35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719" y="1590084"/>
            <a:ext cx="9212879" cy="43774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81D1F9-C1F2-92B6-0CD1-F43EC6422A07}"/>
              </a:ext>
            </a:extLst>
          </p:cNvPr>
          <p:cNvSpPr txBox="1"/>
          <p:nvPr/>
        </p:nvSpPr>
        <p:spPr>
          <a:xfrm>
            <a:off x="3885064" y="6055773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https://lena-voita.github.io/nlp_course.html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6075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447557D-9FC4-E110-634B-653E7C65E1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Academic: </a:t>
            </a:r>
          </a:p>
          <a:p>
            <a:r>
              <a:rPr lang="en-US" dirty="0"/>
              <a:t>The Pile (280B tokens)</a:t>
            </a:r>
          </a:p>
          <a:p>
            <a:r>
              <a:rPr lang="en-US" dirty="0" err="1"/>
              <a:t>FineWeb</a:t>
            </a:r>
            <a:r>
              <a:rPr lang="en-US" dirty="0"/>
              <a:t> (15T tokens) (on </a:t>
            </a:r>
            <a:r>
              <a:rPr lang="en-US" dirty="0" err="1"/>
              <a:t>HuggingFace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Closed:</a:t>
            </a:r>
          </a:p>
          <a:p>
            <a:r>
              <a:rPr lang="en-US" dirty="0" err="1"/>
              <a:t>LLaMA</a:t>
            </a:r>
            <a:r>
              <a:rPr lang="en-US" dirty="0"/>
              <a:t> 3 (15T tokens)</a:t>
            </a:r>
          </a:p>
          <a:p>
            <a:r>
              <a:rPr lang="en-US" dirty="0"/>
              <a:t>GPT-4 (13T tokens?)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89A0D2-3644-690A-C99E-F3FD6CAE5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Pre-Training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0A81DE-8800-3A16-173B-7D4A7D179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5550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DAFED7-8BB8-46F7-6195-670DDFCB1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46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AB0F08-1C9C-E50C-D86C-B4C30BC63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31" y="406915"/>
            <a:ext cx="9695337" cy="604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811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DCA3B-23D5-8851-E2C6-7C4E7E37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Дорого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3535D5-3C80-895C-95BD-8112A4CDC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47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08866C-75D1-504E-AE56-DB48ED971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15" y="1839581"/>
            <a:ext cx="10905921" cy="412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870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17271-1BBA-8792-FF7E-DF34A1AB4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 ЛЛМ – это не </a:t>
            </a:r>
            <a:r>
              <a:rPr lang="en-US" dirty="0"/>
              <a:t>ChatGPT: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A0B5D6-0354-FD24-1C1E-9FC5859DD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48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99E1FA-C321-E58F-6774-EDA586DE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13" y="1493983"/>
            <a:ext cx="10387259" cy="46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851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B7E36-5612-C839-435E-3C308D9D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31" y="624839"/>
            <a:ext cx="11027383" cy="584775"/>
          </a:xfrm>
        </p:spPr>
        <p:txBody>
          <a:bodyPr/>
          <a:lstStyle/>
          <a:p>
            <a:r>
              <a:rPr lang="ru-RU" sz="3200" kern="100" dirty="0"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Требуется «</a:t>
            </a:r>
            <a:r>
              <a:rPr lang="ru-RU" sz="3200" kern="100" dirty="0" err="1"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докрутка</a:t>
            </a:r>
            <a:r>
              <a:rPr lang="ru-RU" sz="3200" kern="100" dirty="0"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» (“</a:t>
            </a:r>
            <a:r>
              <a:rPr lang="en-US" sz="3200" kern="100" dirty="0"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alignment</a:t>
            </a:r>
            <a:r>
              <a:rPr lang="ru-RU" sz="3200" kern="100" dirty="0"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”) </a:t>
            </a:r>
            <a:endParaRPr lang="ru-RU" dirty="0">
              <a:latin typeface="+mj-lt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BAF499-7D50-D60A-A735-19B46D095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49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74F6B-1A7E-EB9E-5AA5-C2302AD34B81}"/>
              </a:ext>
            </a:extLst>
          </p:cNvPr>
          <p:cNvSpPr txBox="1"/>
          <p:nvPr/>
        </p:nvSpPr>
        <p:spPr>
          <a:xfrm>
            <a:off x="719931" y="1905506"/>
            <a:ext cx="926000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Идея </a:t>
            </a:r>
            <a:r>
              <a:rPr lang="en-US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Post</a:t>
            </a:r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-</a:t>
            </a:r>
            <a:r>
              <a:rPr lang="en-US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training</a:t>
            </a:r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: </a:t>
            </a:r>
          </a:p>
          <a:p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До-обучить БЯМ на небольшом наборе данных для получения нужных ответов</a:t>
            </a:r>
          </a:p>
          <a:p>
            <a:endParaRPr lang="ru-RU" sz="2400" kern="100" dirty="0"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SFT</a:t>
            </a:r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 (</a:t>
            </a:r>
            <a:r>
              <a:rPr lang="en-US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supervised finetuning</a:t>
            </a:r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algn="ctr"/>
            <a:endParaRPr lang="ru-RU" sz="2400" kern="100" dirty="0">
              <a:effectLst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Supervised</a:t>
            </a:r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 = «</a:t>
            </a:r>
            <a:r>
              <a:rPr lang="ru-RU" sz="2400" b="1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нужных</a:t>
            </a:r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 ответов»</a:t>
            </a:r>
          </a:p>
          <a:p>
            <a:r>
              <a:rPr lang="en-US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Finetuning</a:t>
            </a:r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 –</a:t>
            </a:r>
            <a:r>
              <a:rPr lang="en-US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&gt;</a:t>
            </a:r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 «БЯ</a:t>
            </a:r>
            <a:r>
              <a:rPr lang="ru-RU" sz="2400" b="1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М</a:t>
            </a:r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»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418418B-9826-5524-C6AE-FE083AE5F57D}"/>
              </a:ext>
            </a:extLst>
          </p:cNvPr>
          <p:cNvSpPr txBox="1">
            <a:spLocks/>
          </p:cNvSpPr>
          <p:nvPr/>
        </p:nvSpPr>
        <p:spPr>
          <a:xfrm>
            <a:off x="4280170" y="6459242"/>
            <a:ext cx="7646718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Play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ru-RU" sz="1800" b="0" kern="100" dirty="0">
                <a:latin typeface="+mn-lt"/>
                <a:ea typeface="DengXian" panose="02010600030101010101" pitchFamily="2" charset="-122"/>
                <a:cs typeface="Arial" panose="020B0604020202020204" pitchFamily="34" charset="0"/>
              </a:rPr>
              <a:t>* И. Бондаренко считает, что это самая важная часть</a:t>
            </a:r>
            <a:endParaRPr lang="ru-RU" sz="1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611769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3E970B-0762-38EC-9472-0E087CE96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50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30AA7-75BD-BF6A-AAC3-2EFF637C1544}"/>
              </a:ext>
            </a:extLst>
          </p:cNvPr>
          <p:cNvSpPr txBox="1"/>
          <p:nvPr/>
        </p:nvSpPr>
        <p:spPr>
          <a:xfrm>
            <a:off x="667034" y="1135612"/>
            <a:ext cx="107058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Нужны наборы вида «Вопрос – Ответ» (нужно немного)</a:t>
            </a:r>
          </a:p>
          <a:p>
            <a:r>
              <a:rPr lang="ru-RU" sz="2400" kern="100" dirty="0">
                <a:ea typeface="DengXian" panose="02010600030101010101" pitchFamily="2" charset="-122"/>
                <a:cs typeface="Arial" panose="020B0604020202020204" pitchFamily="34" charset="0"/>
              </a:rPr>
              <a:t>Д</a:t>
            </a:r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елали люди, теперь </a:t>
            </a:r>
            <a:r>
              <a:rPr lang="en-US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LLM</a:t>
            </a:r>
            <a:r>
              <a:rPr lang="ru-RU" sz="2400" kern="1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 (на удивление хорошо)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ADDB46-DB55-FF24-C394-A94F7434E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0" y="2156329"/>
            <a:ext cx="8668290" cy="40177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0C8A5B-EE58-0D93-F37C-8B93C5110AEE}"/>
              </a:ext>
            </a:extLst>
          </p:cNvPr>
          <p:cNvSpPr txBox="1"/>
          <p:nvPr/>
        </p:nvSpPr>
        <p:spPr>
          <a:xfrm>
            <a:off x="719931" y="6240653"/>
            <a:ext cx="9212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Меняем </a:t>
            </a:r>
            <a:r>
              <a:rPr lang="en-US" sz="18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Learning rate</a:t>
            </a:r>
            <a:r>
              <a:rPr lang="ru-RU" sz="1800" dirty="0">
                <a:effectLst/>
                <a:ea typeface="DengXian" panose="02010600030101010101" pitchFamily="2" charset="-122"/>
                <a:cs typeface="Arial" panose="020B0604020202020204" pitchFamily="34" charset="0"/>
              </a:rPr>
              <a:t> при обучении – увеличиваем «вес» этих примеров </a:t>
            </a:r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DB21C34A-66AF-0242-F125-73F85C98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31" y="624839"/>
            <a:ext cx="11027383" cy="584775"/>
          </a:xfrm>
        </p:spPr>
        <p:txBody>
          <a:bodyPr/>
          <a:lstStyle/>
          <a:p>
            <a:pPr marL="342900" lvl="0" indent="-342900">
              <a:buFont typeface="+mj-lt"/>
              <a:buAutoNum type="arabicParenR"/>
            </a:pPr>
            <a:r>
              <a:rPr lang="ru-RU" sz="3200" kern="100" dirty="0"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Набор данных: </a:t>
            </a:r>
          </a:p>
        </p:txBody>
      </p:sp>
    </p:spTree>
    <p:extLst>
      <p:ext uri="{BB962C8B-B14F-4D97-AF65-F5344CB8AC3E}">
        <p14:creationId xmlns:p14="http://schemas.microsoft.com/office/powerpoint/2010/main" val="12189138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792A4-AEA1-F095-9934-734D4C2A3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31" y="624839"/>
            <a:ext cx="11027383" cy="1077218"/>
          </a:xfrm>
        </p:spPr>
        <p:txBody>
          <a:bodyPr/>
          <a:lstStyle/>
          <a:p>
            <a:r>
              <a:rPr lang="en-US" sz="3200" kern="100" dirty="0"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2) RLHF</a:t>
            </a:r>
            <a:r>
              <a:rPr lang="ru-RU" sz="3200" kern="100" dirty="0"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– максимизация предпочтений, а не просто запоминание примеров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F1C012-7F93-203F-4AD0-B3A1BA677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51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3E562E-B32C-6F0F-8988-C004E2E12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850" y="1686782"/>
            <a:ext cx="6799543" cy="475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0152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0D97A-13DB-68A1-5D10-0B8CD7BA4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31" y="624839"/>
            <a:ext cx="11027383" cy="584775"/>
          </a:xfrm>
        </p:spPr>
        <p:txBody>
          <a:bodyPr/>
          <a:lstStyle/>
          <a:p>
            <a:r>
              <a:rPr lang="ru-RU" dirty="0"/>
              <a:t>Вклад каждого этапа в качество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361DB7-51FE-1347-BDA0-24DA53036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52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AD3020-305E-1729-47A0-C9A314C48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622" y="1417067"/>
            <a:ext cx="8915476" cy="471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349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FB8D3-AE75-83D0-3BA6-6C931058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Reasoning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9C3BA6-E50C-140C-5F4C-C8BE3FC9F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53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83CB5D3-6974-742C-BABE-401C4BAF7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703" y="1457223"/>
            <a:ext cx="8735066" cy="457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586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A61721F-6AA9-AEAA-6524-F913F8C2E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31" y="624839"/>
            <a:ext cx="11027383" cy="584775"/>
          </a:xfrm>
        </p:spPr>
        <p:txBody>
          <a:bodyPr/>
          <a:lstStyle/>
          <a:p>
            <a:r>
              <a:rPr lang="ru-RU" dirty="0"/>
              <a:t>Примеры для </a:t>
            </a:r>
            <a:r>
              <a:rPr lang="en-US" dirty="0"/>
              <a:t>reasoning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D51BA6-F62D-1F7A-FFBC-774965D45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fld id="{DF043116-2A69-4F25-A768-0EBC84F607C0}" type="slidenum">
              <a:rPr lang="ru-RU" smtClean="0"/>
              <a:pPr>
                <a:spcBef>
                  <a:spcPts val="1000"/>
                </a:spcBef>
              </a:pPr>
              <a:t>54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5F301A-107B-7F35-2643-9232FB5AB425}"/>
              </a:ext>
            </a:extLst>
          </p:cNvPr>
          <p:cNvSpPr txBox="1"/>
          <p:nvPr/>
        </p:nvSpPr>
        <p:spPr>
          <a:xfrm>
            <a:off x="719931" y="1484217"/>
            <a:ext cx="1102738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[</a:t>
            </a:r>
          </a:p>
          <a:p>
            <a:r>
              <a:rPr lang="ru-RU" sz="1600" dirty="0"/>
              <a:t>  {</a:t>
            </a:r>
          </a:p>
          <a:p>
            <a:r>
              <a:rPr lang="ru-RU" sz="1600" dirty="0"/>
              <a:t>    "</a:t>
            </a:r>
            <a:r>
              <a:rPr lang="ru-RU" sz="1600" dirty="0" err="1"/>
              <a:t>instruction</a:t>
            </a:r>
            <a:r>
              <a:rPr lang="ru-RU" sz="1600" dirty="0"/>
              <a:t>": "Автомобиль едет со скоростью 60 км/ч. За сколько часов он проедет 180 км?",</a:t>
            </a:r>
          </a:p>
          <a:p>
            <a:r>
              <a:rPr lang="ru-RU" sz="1600" dirty="0"/>
              <a:t>    "</a:t>
            </a:r>
            <a:r>
              <a:rPr lang="ru-RU" sz="1600" dirty="0" err="1"/>
              <a:t>output</a:t>
            </a:r>
            <a:r>
              <a:rPr lang="ru-RU" sz="1600" dirty="0"/>
              <a:t>": "Время равно расстоянию делённому на скорость: 180 / 60 = 3 часа. Ответ: 3"</a:t>
            </a:r>
          </a:p>
          <a:p>
            <a:r>
              <a:rPr lang="ru-RU" sz="1600" dirty="0"/>
              <a:t>  },</a:t>
            </a:r>
          </a:p>
          <a:p>
            <a:r>
              <a:rPr lang="ru-RU" sz="1600" dirty="0"/>
              <a:t>  {</a:t>
            </a:r>
          </a:p>
          <a:p>
            <a:r>
              <a:rPr lang="ru-RU" sz="1600" dirty="0"/>
              <a:t>    "</a:t>
            </a:r>
            <a:r>
              <a:rPr lang="ru-RU" sz="1600" dirty="0" err="1"/>
              <a:t>instruction</a:t>
            </a:r>
            <a:r>
              <a:rPr lang="ru-RU" sz="1600" dirty="0"/>
              <a:t>": "Сумма двух чисел равна 20. Одно число на 4 больше другого. Найдите эти числа.",</a:t>
            </a:r>
          </a:p>
          <a:p>
            <a:r>
              <a:rPr lang="ru-RU" sz="1600" dirty="0"/>
              <a:t>    "</a:t>
            </a:r>
            <a:r>
              <a:rPr lang="ru-RU" sz="1600" dirty="0" err="1"/>
              <a:t>output</a:t>
            </a:r>
            <a:r>
              <a:rPr lang="ru-RU" sz="1600" dirty="0"/>
              <a:t>": "Пусть первое число — </a:t>
            </a:r>
            <a:r>
              <a:rPr lang="ru-RU" sz="1600" dirty="0" err="1"/>
              <a:t>x</a:t>
            </a:r>
            <a:r>
              <a:rPr lang="ru-RU" sz="1600" dirty="0"/>
              <a:t>, тогда второе — </a:t>
            </a:r>
            <a:r>
              <a:rPr lang="ru-RU" sz="1600" dirty="0" err="1"/>
              <a:t>x</a:t>
            </a:r>
            <a:r>
              <a:rPr lang="ru-RU" sz="1600" dirty="0"/>
              <a:t> + 4. Их сумма: </a:t>
            </a:r>
            <a:r>
              <a:rPr lang="ru-RU" sz="1600" dirty="0" err="1"/>
              <a:t>x</a:t>
            </a:r>
            <a:r>
              <a:rPr lang="ru-RU" sz="1600" dirty="0"/>
              <a:t> + </a:t>
            </a:r>
            <a:r>
              <a:rPr lang="ru-RU" sz="1600" dirty="0" err="1"/>
              <a:t>x</a:t>
            </a:r>
            <a:r>
              <a:rPr lang="ru-RU" sz="1600" dirty="0"/>
              <a:t> + 4 = 20 → 2x + 4 = 20 → 2x = 16 → </a:t>
            </a:r>
            <a:r>
              <a:rPr lang="ru-RU" sz="1600" dirty="0" err="1"/>
              <a:t>x</a:t>
            </a:r>
            <a:r>
              <a:rPr lang="ru-RU" sz="1600" dirty="0"/>
              <a:t> = 8. Первое число: 8, второе: 12. Ответ: 8 и 12"</a:t>
            </a:r>
          </a:p>
          <a:p>
            <a:r>
              <a:rPr lang="ru-RU" sz="1600" dirty="0"/>
              <a:t>  }</a:t>
            </a:r>
            <a:r>
              <a:rPr lang="en-US" sz="1600" dirty="0"/>
              <a:t>,</a:t>
            </a:r>
          </a:p>
          <a:p>
            <a:r>
              <a:rPr lang="es-419" sz="1600" dirty="0"/>
              <a:t>{</a:t>
            </a:r>
          </a:p>
          <a:p>
            <a:r>
              <a:rPr lang="es-419" sz="1600" dirty="0"/>
              <a:t>  "instruction": "</a:t>
            </a:r>
            <a:r>
              <a:rPr lang="ru-RU" sz="1600" dirty="0"/>
              <a:t>У Джона было 10 яблок. Он дал половину своей сестре и еще 2 другу. Сколько яблок у него осталось?",</a:t>
            </a:r>
          </a:p>
          <a:p>
            <a:r>
              <a:rPr lang="es-419" sz="1600" dirty="0"/>
              <a:t>  "output": "</a:t>
            </a:r>
            <a:r>
              <a:rPr lang="ru-RU" sz="1600" dirty="0"/>
              <a:t>Сначала Джон отдал половину яблок: 10 / 2 = 5 яблок. У него осталось 10 - 5 = 5 яблок. Потом он отдал еще 2 яблока: 5 - 2 = 3 яблока. Ответ: 3"</a:t>
            </a:r>
          </a:p>
          <a:p>
            <a:r>
              <a:rPr lang="ru-RU" sz="1600" dirty="0"/>
              <a:t>}</a:t>
            </a:r>
          </a:p>
          <a:p>
            <a:r>
              <a:rPr lang="ru-RU" sz="16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5246823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5838B6-CA4A-C0AA-2906-BD0358D2B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fld id="{DF043116-2A69-4F25-A768-0EBC84F607C0}" type="slidenum">
              <a:rPr lang="ru-RU" smtClean="0"/>
              <a:pPr>
                <a:spcBef>
                  <a:spcPts val="1000"/>
                </a:spcBef>
              </a:pPr>
              <a:t>55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2B2880F-B69E-7401-51E9-7C46C9E96BAC}"/>
              </a:ext>
            </a:extLst>
          </p:cNvPr>
          <p:cNvSpPr txBox="1">
            <a:spLocks/>
          </p:cNvSpPr>
          <p:nvPr/>
        </p:nvSpPr>
        <p:spPr>
          <a:xfrm>
            <a:off x="872331" y="777239"/>
            <a:ext cx="11027383" cy="107721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Play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Reasoning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1029CA-D4BF-DCBC-0961-9D700A5A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82" y="685801"/>
            <a:ext cx="9894109" cy="57253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444552-4AFF-1CFD-4791-65FA7ED56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874" y="274782"/>
            <a:ext cx="2841239" cy="233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75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7BFF87F-9994-33AE-7545-944FA7793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Есть в </a:t>
            </a:r>
            <a:r>
              <a:rPr lang="en-US" dirty="0" err="1"/>
              <a:t>ChatGPT</a:t>
            </a:r>
            <a:r>
              <a:rPr lang="ru-RU" dirty="0"/>
              <a:t> (очень хороший)</a:t>
            </a:r>
            <a:endParaRPr lang="en-US" dirty="0"/>
          </a:p>
          <a:p>
            <a:r>
              <a:rPr lang="ru-RU" dirty="0"/>
              <a:t>Доступен из </a:t>
            </a:r>
            <a:r>
              <a:rPr lang="en-US" dirty="0" err="1"/>
              <a:t>OpenWebUI</a:t>
            </a:r>
            <a:r>
              <a:rPr lang="ru-RU" dirty="0"/>
              <a:t> (надо настраивать)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BB42A1-E1D4-F63A-4E52-48583AD42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D79E9F-59C1-B1FE-A883-142433CCC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EE8D5DF-30B9-4600-94C9-E546793E2BE0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3965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609674"/>
            <a:ext cx="9875520" cy="167716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Иван Комаров,</a:t>
            </a:r>
            <a:br>
              <a:rPr lang="ru-RU" dirty="0"/>
            </a:br>
            <a:r>
              <a:rPr lang="ru-RU" dirty="0"/>
              <a:t>Заведующий машинным отделением</a:t>
            </a:r>
            <a:br>
              <a:rPr lang="en-US" dirty="0"/>
            </a:br>
            <a:r>
              <a:rPr lang="en-US" dirty="0" err="1"/>
              <a:t>koronatech.ru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3437871"/>
            <a:ext cx="9872871" cy="2303162"/>
          </a:xfrm>
        </p:spPr>
        <p:txBody>
          <a:bodyPr>
            <a:normAutofit/>
          </a:bodyPr>
          <a:lstStyle/>
          <a:p>
            <a:r>
              <a:rPr lang="en-US" dirty="0"/>
              <a:t>Telegram: @</a:t>
            </a:r>
            <a:r>
              <a:rPr lang="en-US" dirty="0" err="1"/>
              <a:t>datakomarov</a:t>
            </a:r>
            <a:endParaRPr lang="en-US" dirty="0"/>
          </a:p>
          <a:p>
            <a:r>
              <a:rPr lang="en-US" dirty="0" err="1"/>
              <a:t>vk.com</a:t>
            </a:r>
            <a:r>
              <a:rPr lang="en-US" dirty="0"/>
              <a:t>/</a:t>
            </a:r>
            <a:r>
              <a:rPr lang="en-US" dirty="0" err="1"/>
              <a:t>datakomarov</a:t>
            </a:r>
            <a:endParaRPr lang="en-US" dirty="0"/>
          </a:p>
          <a:p>
            <a:r>
              <a:rPr lang="en-US" dirty="0" err="1"/>
              <a:t>i.komarov@g.nsu.ru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99659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1794</TotalTime>
  <Words>1964</Words>
  <Application>Microsoft Macintosh PowerPoint</Application>
  <PresentationFormat>Широкоэкранный</PresentationFormat>
  <Paragraphs>325</Paragraphs>
  <Slides>57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57</vt:i4>
      </vt:variant>
    </vt:vector>
  </HeadingPairs>
  <TitlesOfParts>
    <vt:vector size="68" baseType="lpstr">
      <vt:lpstr>Play</vt:lpstr>
      <vt:lpstr>TTTravels-Regular</vt:lpstr>
      <vt:lpstr>Arial</vt:lpstr>
      <vt:lpstr>Calibri</vt:lpstr>
      <vt:lpstr>Calibri Light</vt:lpstr>
      <vt:lpstr>Garamond</vt:lpstr>
      <vt:lpstr>Open Sans Extrabold</vt:lpstr>
      <vt:lpstr>Tahoma</vt:lpstr>
      <vt:lpstr>Verdana</vt:lpstr>
      <vt:lpstr>Wingdings</vt:lpstr>
      <vt:lpstr>Тема Office</vt:lpstr>
      <vt:lpstr>ии и и…</vt:lpstr>
      <vt:lpstr>Представление</vt:lpstr>
      <vt:lpstr>Личное мнение:</vt:lpstr>
      <vt:lpstr>История</vt:lpstr>
      <vt:lpstr>А теперь, Секрет !  (a «no magic» secret)</vt:lpstr>
      <vt:lpstr>*поправочка</vt:lpstr>
      <vt:lpstr>Data Science &gt; Машинное обучение</vt:lpstr>
      <vt:lpstr>Машинное обучение</vt:lpstr>
      <vt:lpstr>Машинное обучение</vt:lpstr>
      <vt:lpstr>Машинное обучение</vt:lpstr>
      <vt:lpstr>Машинное обучение</vt:lpstr>
      <vt:lpstr>Машинное обучение</vt:lpstr>
      <vt:lpstr>Машинное обучение</vt:lpstr>
      <vt:lpstr>Минутка экономики:</vt:lpstr>
      <vt:lpstr>Counterfactuals</vt:lpstr>
      <vt:lpstr>Презентация PowerPoint</vt:lpstr>
      <vt:lpstr>Упс:</vt:lpstr>
      <vt:lpstr>Презентация PowerPoint</vt:lpstr>
      <vt:lpstr>Зачем нужно разделять трафик  случайным образом?</vt:lpstr>
      <vt:lpstr>“Оценка спроса”</vt:lpstr>
      <vt:lpstr>Бизнес запрос:</vt:lpstr>
      <vt:lpstr>Fail</vt:lpstr>
      <vt:lpstr>Почему так получилось?</vt:lpstr>
      <vt:lpstr>Презентация PowerPoint</vt:lpstr>
      <vt:lpstr>Инстайт:</vt:lpstr>
      <vt:lpstr>Решение – Casual Inference https://www.stanford.edu/class/ee380/Abstracts/140129-slides-Machine-Learning-and-Econometrics.pdf </vt:lpstr>
      <vt:lpstr>Когда вам нужно машинное обучение</vt:lpstr>
      <vt:lpstr>Скорость и качество анализа: когда</vt:lpstr>
      <vt:lpstr>Машинное отделение</vt:lpstr>
      <vt:lpstr>Кто эти 200+ в %?</vt:lpstr>
      <vt:lpstr>Аналитика а.к.а. Дата-Сайенс*</vt:lpstr>
      <vt:lpstr>Аналитика а.к.а. Дата Сайенс</vt:lpstr>
      <vt:lpstr>Где используем Дата Сайенс</vt:lpstr>
      <vt:lpstr>Презентация PowerPoint</vt:lpstr>
      <vt:lpstr>Презентация PowerPoint</vt:lpstr>
      <vt:lpstr>Love is …</vt:lpstr>
      <vt:lpstr>Завод, а не НИИ</vt:lpstr>
      <vt:lpstr>Уроки</vt:lpstr>
      <vt:lpstr>Принципы</vt:lpstr>
      <vt:lpstr>Презентация PowerPoint</vt:lpstr>
      <vt:lpstr>Помогут: </vt:lpstr>
      <vt:lpstr>1. Основное</vt:lpstr>
      <vt:lpstr>LLM</vt:lpstr>
      <vt:lpstr>Как устроена LLM</vt:lpstr>
      <vt:lpstr>Pre-Training</vt:lpstr>
      <vt:lpstr>Презентация PowerPoint</vt:lpstr>
      <vt:lpstr>Дорого</vt:lpstr>
      <vt:lpstr>Но ЛЛМ – это не ChatGPT:</vt:lpstr>
      <vt:lpstr>Требуется «докрутка» (“alignment”) </vt:lpstr>
      <vt:lpstr> Набор данных: </vt:lpstr>
      <vt:lpstr>2) RLHF – максимизация предпочтений, а не просто запоминание примеров</vt:lpstr>
      <vt:lpstr>Вклад каждого этапа в качество </vt:lpstr>
      <vt:lpstr>Reasoning</vt:lpstr>
      <vt:lpstr>Примеры для reasoning</vt:lpstr>
      <vt:lpstr>Презентация PowerPoint</vt:lpstr>
      <vt:lpstr>RAG</vt:lpstr>
      <vt:lpstr>Иван Комаров, Заведующий машинным отделением koronatech.ru</vt:lpstr>
    </vt:vector>
  </TitlesOfParts>
  <Company>Центр Финансовых Технологий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Машинное обучение в Финтехе</dc:title>
  <dc:creator>Комаров Иван Владимирович</dc:creator>
  <cp:lastModifiedBy>Комаров Иван Владимирович</cp:lastModifiedBy>
  <cp:revision>34</cp:revision>
  <dcterms:created xsi:type="dcterms:W3CDTF">2021-10-20T02:57:35Z</dcterms:created>
  <dcterms:modified xsi:type="dcterms:W3CDTF">2025-09-09T09:34:47Z</dcterms:modified>
</cp:coreProperties>
</file>